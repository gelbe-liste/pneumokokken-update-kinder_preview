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527"/>
    <a:srgbClr val="FFD500"/>
    <a:srgbClr val="FFE46A"/>
    <a:srgbClr val="3A6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do Strehlau" userId="67c4db89-acee-40d4-b099-af433999e5fa" providerId="ADAL" clId="{FA122BB3-1E61-48EC-96FA-22998980E1FF}"/>
    <pc:docChg chg="modSld">
      <pc:chgData name="Guido Strehlau" userId="67c4db89-acee-40d4-b099-af433999e5fa" providerId="ADAL" clId="{FA122BB3-1E61-48EC-96FA-22998980E1FF}" dt="2026-09-16T13:51:29.496" v="1"/>
      <pc:docMkLst>
        <pc:docMk/>
      </pc:docMkLst>
      <pc:sldChg chg="modSp">
        <pc:chgData name="Guido Strehlau" userId="67c4db89-acee-40d4-b099-af433999e5fa" providerId="ADAL" clId="{FA122BB3-1E61-48EC-96FA-22998980E1FF}" dt="2026-09-16T13:41:51.893" v="0"/>
        <pc:sldMkLst>
          <pc:docMk/>
          <pc:sldMk cId="0" sldId="258"/>
        </pc:sldMkLst>
        <pc:spChg chg="mod">
          <ac:chgData name="Guido Strehlau" userId="67c4db89-acee-40d4-b099-af433999e5fa" providerId="ADAL" clId="{FA122BB3-1E61-48EC-96FA-22998980E1FF}" dt="2026-09-16T13:41:51.893" v="0"/>
          <ac:spMkLst>
            <pc:docMk/>
            <pc:sldMk cId="0" sldId="258"/>
            <ac:spMk id="5" creationId="{00000000-0000-0000-0000-000000000000}"/>
          </ac:spMkLst>
        </pc:spChg>
      </pc:sldChg>
      <pc:sldChg chg="modSp">
        <pc:chgData name="Guido Strehlau" userId="67c4db89-acee-40d4-b099-af433999e5fa" providerId="ADAL" clId="{FA122BB3-1E61-48EC-96FA-22998980E1FF}" dt="2026-09-16T13:51:29.496" v="1"/>
        <pc:sldMkLst>
          <pc:docMk/>
          <pc:sldMk cId="0" sldId="259"/>
        </pc:sldMkLst>
        <pc:spChg chg="mod">
          <ac:chgData name="Guido Strehlau" userId="67c4db89-acee-40d4-b099-af433999e5fa" providerId="ADAL" clId="{FA122BB3-1E61-48EC-96FA-22998980E1FF}" dt="2026-09-16T13:51:29.496" v="1"/>
          <ac:spMkLst>
            <pc:docMk/>
            <pc:sldMk cId="0" sldId="259"/>
            <ac:spMk id="28" creationId="{D5DA675F-8E40-5E9D-36E3-C871899C48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59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KERNAUSSAGEN IN 60 SEKUNDEN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9261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dirty="0" err="1">
                <a:solidFill>
                  <a:srgbClr val="000000"/>
                </a:solidFill>
                <a:latin typeface="Arial"/>
              </a:rPr>
              <a:t>Vollständige</a:t>
            </a:r>
            <a:r>
              <a:rPr sz="3300" b="1" dirty="0">
                <a:solidFill>
                  <a:srgbClr val="000000"/>
                </a:solidFill>
                <a:latin typeface="Arial"/>
              </a:rPr>
              <a:t> und </a:t>
            </a:r>
            <a:r>
              <a:rPr sz="3300" b="1" dirty="0" err="1">
                <a:solidFill>
                  <a:srgbClr val="000000"/>
                </a:solidFill>
                <a:latin typeface="Arial"/>
              </a:rPr>
              <a:t>frühzeitige</a:t>
            </a:r>
            <a:r>
              <a:rPr sz="33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300" b="1" dirty="0" err="1">
                <a:solidFill>
                  <a:srgbClr val="000000"/>
                </a:solidFill>
                <a:latin typeface="Arial"/>
              </a:rPr>
              <a:t>Immunisierung</a:t>
            </a:r>
            <a:br>
              <a:rPr sz="3300" b="1" dirty="0"/>
            </a:br>
            <a:r>
              <a:rPr sz="3300" b="1" dirty="0" err="1"/>
              <a:t>bleibt</a:t>
            </a:r>
            <a:r>
              <a:rPr sz="3300" b="1" dirty="0"/>
              <a:t> </a:t>
            </a:r>
            <a:r>
              <a:rPr sz="3300" b="1" dirty="0" err="1"/>
              <a:t>zentrales</a:t>
            </a:r>
            <a:r>
              <a:rPr sz="3300" b="1" dirty="0"/>
              <a:t> </a:t>
            </a:r>
            <a:r>
              <a:rPr sz="3300" b="1" dirty="0" err="1"/>
              <a:t>Versorgungsthema</a:t>
            </a:r>
            <a:endParaRPr sz="3300" b="1" dirty="0"/>
          </a:p>
        </p:txBody>
      </p:sp>
      <p:sp>
        <p:nvSpPr>
          <p:cNvPr id="5" name="Shape 3"/>
          <p:cNvSpPr/>
          <p:nvPr/>
        </p:nvSpPr>
        <p:spPr>
          <a:xfrm>
            <a:off x="685800" y="2141220"/>
            <a:ext cx="5105400" cy="2636520"/>
          </a:xfrm>
          <a:prstGeom prst="roundRect">
            <a:avLst>
              <a:gd name="adj" fmla="val 5549"/>
            </a:avLst>
          </a:prstGeom>
          <a:solidFill>
            <a:srgbClr val="FFD500"/>
          </a:solidFill>
          <a:ln w="1524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096000" y="2141220"/>
            <a:ext cx="5105400" cy="2636520"/>
          </a:xfrm>
          <a:prstGeom prst="roundRect">
            <a:avLst>
              <a:gd name="adj" fmla="val 5549"/>
            </a:avLst>
          </a:prstGeom>
          <a:solidFill>
            <a:srgbClr val="FFFFFF"/>
          </a:solidFill>
          <a:ln w="1524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04900" y="2527100"/>
            <a:ext cx="24384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73 %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104899" y="3491030"/>
            <a:ext cx="429185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2200" dirty="0"/>
              <a:t>2024 </a:t>
            </a:r>
            <a:r>
              <a:rPr sz="2200" dirty="0" err="1"/>
              <a:t>mit</a:t>
            </a:r>
            <a:r>
              <a:rPr sz="2200" dirty="0"/>
              <a:t> 24 </a:t>
            </a:r>
            <a:r>
              <a:rPr sz="2200" dirty="0" err="1"/>
              <a:t>Monaten</a:t>
            </a:r>
            <a:r>
              <a:rPr lang="de-DE" sz="2200" dirty="0"/>
              <a:t> </a:t>
            </a:r>
            <a:r>
              <a:rPr sz="2200" dirty="0" err="1"/>
              <a:t>vollständig</a:t>
            </a:r>
            <a:r>
              <a:rPr sz="2200" dirty="0"/>
              <a:t> </a:t>
            </a:r>
            <a:r>
              <a:rPr sz="2200" dirty="0" err="1"/>
              <a:t>gegen</a:t>
            </a:r>
            <a:r>
              <a:rPr lang="de-DE" sz="2200" dirty="0"/>
              <a:t> </a:t>
            </a:r>
            <a:r>
              <a:rPr sz="2200" dirty="0" err="1"/>
              <a:t>Pneumokokken</a:t>
            </a:r>
            <a:r>
              <a:rPr lang="de-DE" sz="2200" dirty="0"/>
              <a:t> </a:t>
            </a:r>
            <a:r>
              <a:rPr sz="2200" dirty="0" err="1"/>
              <a:t>geimpft</a:t>
            </a:r>
            <a:r>
              <a:rPr sz="2200" dirty="0"/>
              <a:t> [6]</a:t>
            </a:r>
          </a:p>
        </p:txBody>
      </p:sp>
      <p:sp>
        <p:nvSpPr>
          <p:cNvPr id="10" name="Text 8"/>
          <p:cNvSpPr/>
          <p:nvPr/>
        </p:nvSpPr>
        <p:spPr>
          <a:xfrm>
            <a:off x="1104900" y="4381500"/>
            <a:ext cx="3048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6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KV-Impfsurveillance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5100" y="2527100"/>
            <a:ext cx="288887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6600" b="1" dirty="0">
                <a:solidFill>
                  <a:srgbClr val="3A6F73"/>
                </a:solidFill>
              </a:rPr>
              <a:t>52,5 %</a:t>
            </a:r>
          </a:p>
        </p:txBody>
      </p:sp>
      <p:sp>
        <p:nvSpPr>
          <p:cNvPr id="15" name="Text 13"/>
          <p:cNvSpPr/>
          <p:nvPr/>
        </p:nvSpPr>
        <p:spPr>
          <a:xfrm>
            <a:off x="6515100" y="3379969"/>
            <a:ext cx="44577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dirty="0"/>
              <a:t>der </a:t>
            </a:r>
            <a:r>
              <a:rPr sz="2200" dirty="0" err="1"/>
              <a:t>Frühgeborenen</a:t>
            </a:r>
            <a:r>
              <a:rPr sz="2200" dirty="0"/>
              <a:t> 2020</a:t>
            </a:r>
            <a:r>
              <a:rPr lang="de-DE" sz="2200" dirty="0"/>
              <a:t> </a:t>
            </a:r>
            <a:r>
              <a:rPr sz="2200" dirty="0"/>
              <a:t>bis 24 </a:t>
            </a:r>
            <a:endParaRPr lang="de-DE" sz="2200" dirty="0"/>
          </a:p>
          <a:p>
            <a:r>
              <a:rPr sz="2200" dirty="0" err="1"/>
              <a:t>Monate</a:t>
            </a:r>
            <a:r>
              <a:rPr sz="2200" dirty="0"/>
              <a:t> </a:t>
            </a:r>
            <a:r>
              <a:rPr sz="2200" dirty="0" err="1"/>
              <a:t>vollständig</a:t>
            </a:r>
            <a:r>
              <a:rPr lang="de-DE" sz="2200" dirty="0"/>
              <a:t> </a:t>
            </a:r>
            <a:r>
              <a:rPr sz="2200" dirty="0"/>
              <a:t>PCV-</a:t>
            </a:r>
            <a:r>
              <a:rPr sz="2200" dirty="0" err="1"/>
              <a:t>geimpft</a:t>
            </a:r>
            <a:r>
              <a:rPr sz="2200" dirty="0"/>
              <a:t> [7]</a:t>
            </a:r>
          </a:p>
        </p:txBody>
      </p:sp>
      <p:sp>
        <p:nvSpPr>
          <p:cNvPr id="16" name="Text 14"/>
          <p:cNvSpPr/>
          <p:nvPr/>
        </p:nvSpPr>
        <p:spPr>
          <a:xfrm>
            <a:off x="6515100" y="4381500"/>
            <a:ext cx="3048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100" dirty="0" err="1"/>
              <a:t>InGef-Abrechnungsdaten</a:t>
            </a:r>
            <a:endParaRPr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910028"/>
            <a:ext cx="10546614" cy="1055741"/>
          </a:xfrm>
          <a:prstGeom prst="roundRect">
            <a:avLst>
              <a:gd name="adj" fmla="val 18000"/>
            </a:avLst>
          </a:prstGeom>
          <a:solidFill>
            <a:srgbClr val="303234"/>
          </a:solidFill>
          <a:ln w="12700">
            <a:solidFill>
              <a:srgbClr val="3032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52500" y="4967149"/>
            <a:ext cx="10100982" cy="99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600" b="0" dirty="0">
                <a:solidFill>
                  <a:schemeClr val="bg1"/>
                </a:solidFill>
                <a:latin typeface="Arial"/>
              </a:rPr>
              <a:t>685 </a:t>
            </a:r>
            <a:r>
              <a:rPr sz="1600" b="0" dirty="0" err="1">
                <a:solidFill>
                  <a:schemeClr val="bg1"/>
                </a:solidFill>
                <a:latin typeface="Arial"/>
              </a:rPr>
              <a:t>Fälle</a:t>
            </a:r>
            <a:r>
              <a:rPr sz="1600" b="0" dirty="0">
                <a:solidFill>
                  <a:schemeClr val="bg1"/>
                </a:solidFill>
                <a:latin typeface="Arial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rial"/>
              </a:rPr>
              <a:t>invasiver</a:t>
            </a:r>
            <a:r>
              <a:rPr sz="1600" b="0" dirty="0">
                <a:solidFill>
                  <a:schemeClr val="bg1"/>
                </a:solidFill>
                <a:latin typeface="Arial"/>
              </a:rPr>
              <a:t> </a:t>
            </a:r>
            <a:r>
              <a:rPr sz="1600" b="0" dirty="0" err="1">
                <a:solidFill>
                  <a:schemeClr val="bg1"/>
                </a:solidFill>
                <a:latin typeface="Arial"/>
              </a:rPr>
              <a:t>Pneumokokken-Erkrankungen</a:t>
            </a:r>
            <a:r>
              <a:rPr sz="1600" b="0" dirty="0">
                <a:solidFill>
                  <a:schemeClr val="bg1"/>
                </a:solidFill>
                <a:latin typeface="Arial"/>
              </a:rPr>
              <a:t> (Invasive </a:t>
            </a:r>
            <a:r>
              <a:rPr sz="1600" b="0" dirty="0" err="1">
                <a:solidFill>
                  <a:schemeClr val="bg1"/>
                </a:solidFill>
                <a:latin typeface="Arial"/>
              </a:rPr>
              <a:t>Pneumokokken</a:t>
            </a:r>
            <a:r>
              <a:rPr sz="1600" b="0" dirty="0">
                <a:solidFill>
                  <a:schemeClr val="bg1"/>
                </a:solidFill>
                <a:latin typeface="Arial"/>
              </a:rPr>
              <a:t> Disease, IPD) </a:t>
            </a:r>
            <a:r>
              <a:rPr sz="1600" b="0" dirty="0" err="1">
                <a:solidFill>
                  <a:schemeClr val="bg1"/>
                </a:solidFill>
                <a:latin typeface="Arial"/>
              </a:rPr>
              <a:t>bei</a:t>
            </a:r>
            <a:r>
              <a:rPr sz="1600" b="0" dirty="0">
                <a:solidFill>
                  <a:schemeClr val="bg1"/>
                </a:solidFill>
                <a:latin typeface="Arial"/>
              </a:rPr>
              <a:t> 2–17-Jährigen (Jan. 2023–Mitte Dez. 2025) · 18 </a:t>
            </a:r>
            <a:r>
              <a:rPr sz="1600" b="0" dirty="0" err="1">
                <a:solidFill>
                  <a:schemeClr val="bg1"/>
                </a:solidFill>
                <a:latin typeface="Arial"/>
              </a:rPr>
              <a:t>Todesfälle</a:t>
            </a:r>
            <a:r>
              <a:rPr sz="1600" b="0" dirty="0">
                <a:solidFill>
                  <a:schemeClr val="bg1"/>
                </a:solidFill>
                <a:latin typeface="Arial"/>
              </a:rPr>
              <a:t> [1]</a:t>
            </a:r>
            <a:r>
              <a:rPr lang="de-DE" sz="1600" dirty="0">
                <a:solidFill>
                  <a:schemeClr val="bg1"/>
                </a:solidFill>
              </a:rPr>
              <a:t> · </a:t>
            </a:r>
            <a:r>
              <a:rPr sz="1600" dirty="0" err="1">
                <a:solidFill>
                  <a:schemeClr val="bg1"/>
                </a:solidFill>
              </a:rPr>
              <a:t>Pneumokokken-Pneumonien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sind</a:t>
            </a:r>
            <a:r>
              <a:rPr sz="1600" dirty="0">
                <a:solidFill>
                  <a:schemeClr val="bg1"/>
                </a:solidFill>
              </a:rPr>
              <a:t> in </a:t>
            </a:r>
            <a:r>
              <a:rPr sz="1600" dirty="0" err="1">
                <a:solidFill>
                  <a:schemeClr val="bg1"/>
                </a:solidFill>
              </a:rPr>
              <a:t>diesen</a:t>
            </a:r>
            <a:r>
              <a:rPr sz="1600" dirty="0">
                <a:solidFill>
                  <a:schemeClr val="bg1"/>
                </a:solidFill>
              </a:rPr>
              <a:t> IPD-Zahlen nicht </a:t>
            </a:r>
            <a:r>
              <a:rPr sz="1600" dirty="0" err="1">
                <a:solidFill>
                  <a:schemeClr val="bg1"/>
                </a:solidFill>
              </a:rPr>
              <a:t>erfasst</a:t>
            </a:r>
            <a:r>
              <a:rPr sz="1600" dirty="0">
                <a:solidFill>
                  <a:schemeClr val="bg1"/>
                </a:solidFill>
              </a:rPr>
              <a:t>; </a:t>
            </a:r>
            <a:r>
              <a:rPr sz="1600" dirty="0" err="1">
                <a:solidFill>
                  <a:schemeClr val="bg1"/>
                </a:solidFill>
              </a:rPr>
              <a:t>Krankenhausdiagnosedaten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bilden</a:t>
            </a:r>
            <a:r>
              <a:rPr sz="1600" dirty="0">
                <a:solidFill>
                  <a:schemeClr val="bg1"/>
                </a:solidFill>
              </a:rPr>
              <a:t> die </a:t>
            </a:r>
            <a:r>
              <a:rPr sz="1600" dirty="0" err="1">
                <a:solidFill>
                  <a:schemeClr val="bg1"/>
                </a:solidFill>
              </a:rPr>
              <a:t>tatsächliche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Krankheitslast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nur</a:t>
            </a:r>
            <a:r>
              <a:rPr sz="1600" dirty="0">
                <a:solidFill>
                  <a:schemeClr val="bg1"/>
                </a:solidFill>
              </a:rPr>
              <a:t> </a:t>
            </a:r>
            <a:r>
              <a:rPr sz="1600" dirty="0" err="1">
                <a:solidFill>
                  <a:schemeClr val="bg1"/>
                </a:solidFill>
              </a:rPr>
              <a:t>unvollständig</a:t>
            </a:r>
            <a:r>
              <a:rPr sz="1600" dirty="0">
                <a:solidFill>
                  <a:schemeClr val="bg1"/>
                </a:solidFill>
              </a:rPr>
              <a:t> ab. [4]</a:t>
            </a: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BB02C431-67F8-F643-2790-25D8086ABCE7}"/>
              </a:ext>
            </a:extLst>
          </p:cNvPr>
          <p:cNvSpPr/>
          <p:nvPr/>
        </p:nvSpPr>
        <p:spPr>
          <a:xfrm>
            <a:off x="685800" y="6104990"/>
            <a:ext cx="10515600" cy="66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800" dirty="0" err="1"/>
              <a:t>Quellen</a:t>
            </a:r>
            <a:r>
              <a:rPr sz="800" dirty="0"/>
              <a:t>: </a:t>
            </a:r>
            <a:br>
              <a:rPr lang="de-DE" sz="800" dirty="0"/>
            </a:br>
            <a:r>
              <a:rPr lang="de-DE" sz="800" dirty="0"/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800" dirty="0"/>
              <a:t>4. STIKO: Stellungnahme zum Einsatz von Pneumokokken-</a:t>
            </a:r>
            <a:r>
              <a:rPr lang="de-DE" sz="800" dirty="0" err="1"/>
              <a:t>Konjugatimpfstoffen</a:t>
            </a:r>
            <a:r>
              <a:rPr lang="de-DE" sz="800" dirty="0"/>
              <a:t> im Säuglings-, Kindes- und Jugendalter. Epidemiologisches Bulletin 20/2023.</a:t>
            </a:r>
          </a:p>
          <a:p>
            <a:r>
              <a:rPr lang="de-DE" sz="800" dirty="0"/>
              <a:t>6. Rieck T, Steffen A, Lottes M, </a:t>
            </a:r>
            <a:r>
              <a:rPr lang="de-DE" sz="800" dirty="0" err="1"/>
              <a:t>Badenschier</a:t>
            </a:r>
            <a:r>
              <a:rPr lang="de-DE" sz="800" dirty="0"/>
              <a:t> F, Feig M, Rau C: Impfquoten in Deutschland. Epidemiologisches Bulletin 50/2025; aktualisierte Version 2 vom 14.01.2026.</a:t>
            </a:r>
          </a:p>
          <a:p>
            <a:r>
              <a:rPr lang="de-DE" sz="800" dirty="0"/>
              <a:t>7. Kühne F, von </a:t>
            </a:r>
            <a:r>
              <a:rPr lang="de-DE" sz="800" dirty="0" err="1"/>
              <a:t>Eiff</a:t>
            </a:r>
            <a:r>
              <a:rPr lang="de-DE" sz="800" dirty="0"/>
              <a:t> C, Schiffner-Rohe J et al.: Impact of </a:t>
            </a:r>
            <a:r>
              <a:rPr lang="de-DE" sz="800" dirty="0" err="1"/>
              <a:t>Revised</a:t>
            </a:r>
            <a:r>
              <a:rPr lang="de-DE" sz="800" dirty="0"/>
              <a:t> </a:t>
            </a:r>
            <a:r>
              <a:rPr lang="de-DE" sz="800" dirty="0" err="1"/>
              <a:t>Vaccination</a:t>
            </a:r>
            <a:r>
              <a:rPr lang="de-DE" sz="800" dirty="0"/>
              <a:t> </a:t>
            </a:r>
            <a:r>
              <a:rPr lang="de-DE" sz="800" dirty="0" err="1"/>
              <a:t>Recommendations</a:t>
            </a:r>
            <a:r>
              <a:rPr lang="de-DE" sz="800" dirty="0"/>
              <a:t> for Mature </a:t>
            </a:r>
            <a:r>
              <a:rPr lang="de-DE" sz="800" dirty="0" err="1"/>
              <a:t>Infants</a:t>
            </a:r>
            <a:r>
              <a:rPr lang="de-DE" sz="800" dirty="0"/>
              <a:t> on </a:t>
            </a:r>
            <a:r>
              <a:rPr lang="de-DE" sz="800" dirty="0" err="1"/>
              <a:t>Premature</a:t>
            </a:r>
            <a:r>
              <a:rPr lang="de-DE" sz="800" dirty="0"/>
              <a:t> </a:t>
            </a:r>
            <a:r>
              <a:rPr lang="de-DE" sz="800" dirty="0" err="1"/>
              <a:t>Infants</a:t>
            </a:r>
            <a:r>
              <a:rPr lang="de-DE" sz="800" dirty="0"/>
              <a:t>’ </a:t>
            </a:r>
            <a:r>
              <a:rPr lang="de-DE" sz="800" dirty="0" err="1"/>
              <a:t>Vaccination</a:t>
            </a:r>
            <a:r>
              <a:rPr lang="de-DE" sz="800" dirty="0"/>
              <a:t> Compliance in Germany. </a:t>
            </a:r>
            <a:r>
              <a:rPr lang="de-DE" sz="800" dirty="0" err="1"/>
              <a:t>Infectious</a:t>
            </a:r>
            <a:r>
              <a:rPr lang="de-DE" sz="800" dirty="0"/>
              <a:t> </a:t>
            </a:r>
            <a:r>
              <a:rPr lang="de-DE" sz="800" dirty="0" err="1"/>
              <a:t>Diseases</a:t>
            </a:r>
            <a:r>
              <a:rPr lang="de-DE" sz="800" dirty="0"/>
              <a:t> and Therapy. 2025;14:1867–1882.</a:t>
            </a:r>
            <a:br>
              <a:rPr lang="de-DE" sz="800" dirty="0"/>
            </a:br>
            <a:endParaRPr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PNEUMOKOKKEN VERSTEHEN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744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Besiedelung ist häufig – invasive Erkrankung selten,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 potenziell schwer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23900" y="2514600"/>
            <a:ext cx="3086100" cy="1417320"/>
          </a:xfrm>
          <a:prstGeom prst="roundRect">
            <a:avLst>
              <a:gd name="adj" fmla="val 10323"/>
            </a:avLst>
          </a:prstGeom>
          <a:solidFill>
            <a:srgbClr val="2A686F"/>
          </a:solidFill>
          <a:ln w="12700">
            <a:solidFill>
              <a:srgbClr val="A7C3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28700" y="27813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&amp; Transmission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" y="3200400"/>
            <a:ext cx="243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 sind ein wichtiges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und tragen zur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Weitergabe bei.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4434840"/>
            <a:ext cx="3581400" cy="1325880"/>
          </a:xfrm>
          <a:prstGeom prst="roundRect">
            <a:avLst>
              <a:gd name="adj" fmla="val 11034"/>
            </a:avLst>
          </a:prstGeom>
          <a:solidFill>
            <a:srgbClr val="2A686F"/>
          </a:solidFill>
          <a:ln w="12700">
            <a:solidFill>
              <a:srgbClr val="A7C3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90600" y="466344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90600" y="5105400"/>
            <a:ext cx="2514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700" dirty="0" err="1">
                <a:solidFill>
                  <a:schemeClr val="bg1"/>
                </a:solidFill>
              </a:rPr>
              <a:t>klinisch</a:t>
            </a:r>
            <a:r>
              <a:rPr sz="1700" dirty="0">
                <a:solidFill>
                  <a:schemeClr val="bg1"/>
                </a:solidFill>
              </a:rPr>
              <a:t> </a:t>
            </a:r>
            <a:r>
              <a:rPr sz="1700" dirty="0" err="1">
                <a:solidFill>
                  <a:schemeClr val="bg1"/>
                </a:solidFill>
              </a:rPr>
              <a:t>relevante</a:t>
            </a:r>
            <a:endParaRPr sz="1700" dirty="0">
              <a:solidFill>
                <a:schemeClr val="bg1"/>
              </a:solidFill>
            </a:endParaRPr>
          </a:p>
          <a:p>
            <a:r>
              <a:rPr sz="1700" dirty="0">
                <a:solidFill>
                  <a:schemeClr val="bg1"/>
                </a:solidFill>
              </a:rPr>
              <a:t>Manifestation</a:t>
            </a:r>
          </a:p>
        </p:txBody>
      </p:sp>
      <p:sp>
        <p:nvSpPr>
          <p:cNvPr id="11" name="Shape 9"/>
          <p:cNvSpPr/>
          <p:nvPr/>
        </p:nvSpPr>
        <p:spPr>
          <a:xfrm>
            <a:off x="4953000" y="2743200"/>
            <a:ext cx="2286000" cy="2225040"/>
          </a:xfrm>
          <a:prstGeom prst="roundRect">
            <a:avLst>
              <a:gd name="adj" fmla="val 6575"/>
            </a:avLst>
          </a:prstGeom>
          <a:solidFill>
            <a:srgbClr val="F6E89B"/>
          </a:solidFill>
          <a:ln w="12700">
            <a:solidFill>
              <a:srgbClr val="F6E8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257800" y="3162300"/>
            <a:ext cx="1790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40–60 %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257800" y="3749040"/>
            <a:ext cx="17907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asymptomatisch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besiedelt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431292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(&lt;5 Jahre)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77200" y="2971800"/>
            <a:ext cx="3429000" cy="1981200"/>
          </a:xfrm>
          <a:prstGeom prst="roundRect">
            <a:avLst>
              <a:gd name="adj" fmla="val 7385"/>
            </a:avLst>
          </a:prstGeom>
          <a:solidFill>
            <a:srgbClr val="2A686F"/>
          </a:solidFill>
          <a:ln w="12700">
            <a:solidFill>
              <a:srgbClr val="A7C3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82000" y="3276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Sepsis &amp; Meningitis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82000" y="3733800"/>
            <a:ext cx="26670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seltener, aber potenziell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besonders schwere invasive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Verläufe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810000" y="3200400"/>
            <a:ext cx="1143000" cy="457200"/>
          </a:xfrm>
          <a:prstGeom prst="line">
            <a:avLst/>
          </a:prstGeom>
          <a:noFill/>
          <a:ln w="2794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 flipV="1">
            <a:off x="4267200" y="4804913"/>
            <a:ext cx="685800" cy="239527"/>
          </a:xfrm>
          <a:prstGeom prst="line">
            <a:avLst/>
          </a:prstGeom>
          <a:noFill/>
          <a:ln w="2794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239000" y="3886200"/>
            <a:ext cx="838200" cy="0"/>
          </a:xfrm>
          <a:prstGeom prst="line">
            <a:avLst/>
          </a:prstGeom>
          <a:noFill/>
          <a:ln w="2794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6233309"/>
            <a:ext cx="10896600" cy="49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00" dirty="0" err="1">
                <a:solidFill>
                  <a:schemeClr val="bg1"/>
                </a:solidFill>
              </a:rPr>
              <a:t>Schematische</a:t>
            </a:r>
            <a:r>
              <a:rPr sz="900" dirty="0">
                <a:solidFill>
                  <a:schemeClr val="bg1"/>
                </a:solidFill>
              </a:rPr>
              <a:t> </a:t>
            </a:r>
            <a:r>
              <a:rPr sz="900" dirty="0" err="1">
                <a:solidFill>
                  <a:schemeClr val="bg1"/>
                </a:solidFill>
              </a:rPr>
              <a:t>Einordnung</a:t>
            </a:r>
            <a:r>
              <a:rPr sz="900" dirty="0">
                <a:solidFill>
                  <a:schemeClr val="bg1"/>
                </a:solidFill>
              </a:rPr>
              <a:t>. Quelle:</a:t>
            </a:r>
            <a:endParaRPr lang="de-DE" sz="900" dirty="0">
              <a:solidFill>
                <a:schemeClr val="bg1"/>
              </a:solidFill>
            </a:endParaRPr>
          </a:p>
          <a:p>
            <a:r>
              <a:rPr lang="de-DE" sz="900" dirty="0">
                <a:solidFill>
                  <a:schemeClr val="bg1"/>
                </a:solidFill>
              </a:rPr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  <a:endParaRPr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 IM WANDEL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75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dirty="0" err="1">
                <a:solidFill>
                  <a:srgbClr val="000000"/>
                </a:solidFill>
                <a:latin typeface="Arial"/>
              </a:rPr>
              <a:t>Impfstoffe</a:t>
            </a:r>
            <a:r>
              <a:rPr sz="33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300" b="1" dirty="0" err="1">
                <a:solidFill>
                  <a:srgbClr val="000000"/>
                </a:solidFill>
                <a:latin typeface="Arial"/>
              </a:rPr>
              <a:t>können</a:t>
            </a:r>
            <a:r>
              <a:rPr sz="3300" b="1" dirty="0">
                <a:solidFill>
                  <a:srgbClr val="000000"/>
                </a:solidFill>
                <a:latin typeface="Arial"/>
              </a:rPr>
              <a:t> die </a:t>
            </a:r>
            <a:endParaRPr lang="de-DE" sz="3300" b="1" dirty="0">
              <a:solidFill>
                <a:srgbClr val="000000"/>
              </a:solidFill>
              <a:latin typeface="Arial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dirty="0" err="1">
                <a:solidFill>
                  <a:srgbClr val="000000"/>
                </a:solidFill>
                <a:latin typeface="Arial"/>
              </a:rPr>
              <a:t>Serotypendynamik</a:t>
            </a:r>
            <a:r>
              <a:rPr sz="3300" b="1" dirty="0">
                <a:solidFill>
                  <a:srgbClr val="000000"/>
                </a:solidFill>
                <a:latin typeface="Arial"/>
              </a:rPr>
              <a:t> </a:t>
            </a:r>
            <a:r>
              <a:rPr sz="3300" b="1" dirty="0" err="1">
                <a:solidFill>
                  <a:srgbClr val="000000"/>
                </a:solidFill>
                <a:latin typeface="Arial"/>
              </a:rPr>
              <a:t>beeinflussen</a:t>
            </a:r>
            <a:endParaRPr lang="en-US" sz="3300" b="1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515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verhält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Impfprogramme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reduzieren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Erkrankungen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abgedeckte</a:t>
            </a:r>
            <a:endParaRPr lang="en-US" dirty="0"/>
          </a:p>
          <a:p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gleichzeitig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die relative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Bedeutung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anderer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verschieben</a:t>
            </a:r>
            <a:r>
              <a:rPr lang="en-US" dirty="0">
                <a:solidFill>
                  <a:srgbClr val="38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38200" y="2885540"/>
            <a:ext cx="2895600" cy="1676400"/>
          </a:xfrm>
          <a:prstGeom prst="roundRect">
            <a:avLst>
              <a:gd name="adj" fmla="val 8727"/>
            </a:avLst>
          </a:prstGeom>
          <a:solidFill>
            <a:srgbClr val="FFD500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81100" y="3152240"/>
            <a:ext cx="220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Impfprogramm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1" y="3647540"/>
            <a:ext cx="2895600" cy="5334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>
                <a:solidFill>
                  <a:srgbClr val="000000"/>
                </a:solidFill>
                <a:latin typeface="Arial"/>
              </a:rPr>
              <a:t>Abgedeckte </a:t>
            </a:r>
            <a:r>
              <a:rPr sz="1700" b="0" dirty="0" err="1">
                <a:solidFill>
                  <a:srgbClr val="000000"/>
                </a:solidFill>
                <a:latin typeface="Arial"/>
              </a:rPr>
              <a:t>Serotypen</a:t>
            </a:r>
            <a:endParaRPr lang="en-US" sz="17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000000"/>
                </a:solidFill>
                <a:latin typeface="Arial"/>
              </a:rPr>
              <a:t>werden</a:t>
            </a:r>
            <a:r>
              <a:rPr sz="17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Arial"/>
              </a:rPr>
              <a:t>seltener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48200" y="2885540"/>
            <a:ext cx="2895600" cy="1676400"/>
          </a:xfrm>
          <a:prstGeom prst="roundRect">
            <a:avLst>
              <a:gd name="adj" fmla="val 8727"/>
            </a:avLst>
          </a:prstGeom>
          <a:solidFill>
            <a:srgbClr val="D0E4E1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62499" y="3152240"/>
            <a:ext cx="2690723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00000"/>
                </a:solidFill>
                <a:latin typeface="Arial"/>
              </a:rPr>
              <a:t>Selektionsdruck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53000" y="3647540"/>
            <a:ext cx="2286000" cy="5334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rmAutofit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000000"/>
                </a:solidFill>
                <a:latin typeface="Arial"/>
              </a:rPr>
              <a:t>Serotypenverteilung</a:t>
            </a:r>
            <a:endParaRPr lang="en-US" sz="18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000000"/>
                </a:solidFill>
                <a:latin typeface="Arial"/>
              </a:rPr>
              <a:t>verschiebt</a:t>
            </a:r>
            <a:r>
              <a:rPr sz="17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Arial"/>
              </a:rPr>
              <a:t>sich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458200" y="2885540"/>
            <a:ext cx="2895600" cy="1676400"/>
          </a:xfrm>
          <a:prstGeom prst="roundRect">
            <a:avLst>
              <a:gd name="adj" fmla="val 8727"/>
            </a:avLst>
          </a:prstGeom>
          <a:solidFill>
            <a:srgbClr val="D9E3E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839200" y="315224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39200" y="364754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/ persistierende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Serotypen erkennen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10000" y="3723740"/>
            <a:ext cx="685800" cy="0"/>
          </a:xfrm>
          <a:prstGeom prst="line">
            <a:avLst/>
          </a:prstGeom>
          <a:noFill/>
          <a:ln w="63500">
            <a:solidFill>
              <a:srgbClr val="E9003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620000" y="3723740"/>
            <a:ext cx="685800" cy="0"/>
          </a:xfrm>
          <a:prstGeom prst="line">
            <a:avLst/>
          </a:prstGeom>
          <a:noFill/>
          <a:ln w="63500">
            <a:solidFill>
              <a:srgbClr val="E9003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352800" y="5100000"/>
            <a:ext cx="6172200" cy="609600"/>
          </a:xfrm>
          <a:prstGeom prst="roundRect">
            <a:avLst>
              <a:gd name="adj" fmla="val 20488"/>
            </a:avLst>
          </a:prstGeom>
          <a:solidFill>
            <a:srgbClr val="303234"/>
          </a:solidFill>
          <a:ln w="12700">
            <a:solidFill>
              <a:srgbClr val="3032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57600" y="5235000"/>
            <a:ext cx="5562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Serotyp 3: 24 % der typisierten IPD-Fälle [1]</a:t>
            </a: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53FCD866-6DBB-F335-7E49-03BD9F11FE6C}"/>
              </a:ext>
            </a:extLst>
          </p:cNvPr>
          <p:cNvSpPr/>
          <p:nvPr/>
        </p:nvSpPr>
        <p:spPr>
          <a:xfrm>
            <a:off x="685800" y="6065820"/>
            <a:ext cx="10896600" cy="792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00" dirty="0" err="1"/>
              <a:t>Serotypenverteilungen</a:t>
            </a:r>
            <a:r>
              <a:rPr sz="900" dirty="0"/>
              <a:t> </a:t>
            </a:r>
            <a:r>
              <a:rPr sz="900" dirty="0" err="1"/>
              <a:t>sind</a:t>
            </a:r>
            <a:r>
              <a:rPr sz="900" dirty="0"/>
              <a:t> </a:t>
            </a:r>
            <a:r>
              <a:rPr sz="900" dirty="0" err="1"/>
              <a:t>epidemiologische</a:t>
            </a:r>
            <a:r>
              <a:rPr sz="900" dirty="0"/>
              <a:t> </a:t>
            </a:r>
            <a:r>
              <a:rPr sz="900" dirty="0" err="1"/>
              <a:t>Kenngrößen</a:t>
            </a:r>
            <a:r>
              <a:rPr sz="900" dirty="0"/>
              <a:t> und </a:t>
            </a:r>
            <a:r>
              <a:rPr sz="900" dirty="0" err="1"/>
              <a:t>keine</a:t>
            </a:r>
            <a:r>
              <a:rPr sz="900" dirty="0"/>
              <a:t> </a:t>
            </a:r>
            <a:r>
              <a:rPr sz="900" dirty="0" err="1"/>
              <a:t>Aussage</a:t>
            </a:r>
            <a:r>
              <a:rPr sz="900" dirty="0"/>
              <a:t> </a:t>
            </a:r>
            <a:r>
              <a:rPr sz="900" dirty="0" err="1"/>
              <a:t>zur</a:t>
            </a:r>
            <a:r>
              <a:rPr sz="900" dirty="0"/>
              <a:t> </a:t>
            </a:r>
            <a:r>
              <a:rPr sz="900" dirty="0" err="1"/>
              <a:t>klinischen</a:t>
            </a:r>
            <a:r>
              <a:rPr sz="900" dirty="0"/>
              <a:t> </a:t>
            </a:r>
            <a:r>
              <a:rPr sz="900" dirty="0" err="1"/>
              <a:t>Impfstoffwirksamkeit</a:t>
            </a:r>
            <a:r>
              <a:rPr sz="900" dirty="0"/>
              <a:t>.</a:t>
            </a:r>
            <a:r>
              <a:rPr lang="de-DE" sz="900" dirty="0"/>
              <a:t> Quellen:</a:t>
            </a:r>
          </a:p>
          <a:p>
            <a:r>
              <a:rPr lang="de-DE" sz="900" dirty="0"/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900" dirty="0"/>
              <a:t>8. van der Linden MPG, Pletz MW, Itzek A et al.: Surveillance of invasive </a:t>
            </a:r>
            <a:r>
              <a:rPr lang="de-DE" sz="900" dirty="0" err="1"/>
              <a:t>pneumococcal</a:t>
            </a:r>
            <a:r>
              <a:rPr lang="de-DE" sz="900" dirty="0"/>
              <a:t> </a:t>
            </a:r>
            <a:r>
              <a:rPr lang="de-DE" sz="900" dirty="0" err="1"/>
              <a:t>disease</a:t>
            </a:r>
            <a:r>
              <a:rPr lang="de-DE" sz="900" dirty="0"/>
              <a:t> in Germany: </a:t>
            </a:r>
            <a:r>
              <a:rPr lang="de-DE" sz="900" dirty="0" err="1"/>
              <a:t>surge</a:t>
            </a:r>
            <a:r>
              <a:rPr lang="de-DE" sz="900" dirty="0"/>
              <a:t> in PCV13 </a:t>
            </a:r>
            <a:r>
              <a:rPr lang="de-DE" sz="900" dirty="0" err="1"/>
              <a:t>serotypes</a:t>
            </a:r>
            <a:r>
              <a:rPr lang="de-DE" sz="900" dirty="0"/>
              <a:t> and </a:t>
            </a:r>
            <a:r>
              <a:rPr lang="de-DE" sz="900" dirty="0" err="1"/>
              <a:t>new</a:t>
            </a:r>
            <a:r>
              <a:rPr lang="de-DE" sz="900" dirty="0"/>
              <a:t> </a:t>
            </a:r>
            <a:r>
              <a:rPr lang="de-DE" sz="900" dirty="0" err="1"/>
              <a:t>challenges</a:t>
            </a:r>
            <a:r>
              <a:rPr lang="de-DE" sz="900" dirty="0"/>
              <a:t>, 2017 to 2024. </a:t>
            </a:r>
            <a:r>
              <a:rPr lang="de-DE" sz="900" dirty="0" err="1"/>
              <a:t>Eurosurveillance</a:t>
            </a:r>
            <a:r>
              <a:rPr lang="de-DE" sz="900" dirty="0"/>
              <a:t>. 2026;31(21):2500576.</a:t>
            </a:r>
          </a:p>
          <a:p>
            <a:endParaRPr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0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2999" y="419100"/>
            <a:ext cx="5885329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 dirty="0">
                <a:solidFill>
                  <a:srgbClr val="F5D200"/>
                </a:solidFill>
                <a:latin typeface="Arial"/>
              </a:rPr>
              <a:t>IMPFSTOFFE UND SEROTYPENDYNAMIK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946718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799" y="2213418"/>
            <a:ext cx="2438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 err="1">
                <a:solidFill>
                  <a:srgbClr val="F5D200"/>
                </a:solidFill>
                <a:latin typeface="Arial"/>
              </a:rPr>
              <a:t>Serotypenabdeckung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6300" y="2662998"/>
            <a:ext cx="2057400" cy="5334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FFFFFF"/>
                </a:solidFill>
                <a:latin typeface="Arial"/>
              </a:rPr>
              <a:t>enthaltene</a:t>
            </a:r>
            <a:r>
              <a:rPr sz="17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Arial"/>
              </a:rPr>
              <a:t>Serotypen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43300" y="1946718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33800" y="2213418"/>
            <a:ext cx="205740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 err="1">
                <a:solidFill>
                  <a:srgbClr val="F5D200"/>
                </a:solidFill>
                <a:latin typeface="Arial"/>
              </a:rPr>
              <a:t>Immunogenität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33800" y="2662998"/>
            <a:ext cx="2057400" cy="5334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FFFFFF"/>
                </a:solidFill>
                <a:latin typeface="Arial"/>
              </a:rPr>
              <a:t>Immunantwort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946718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91300" y="2213418"/>
            <a:ext cx="2130006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 err="1">
                <a:solidFill>
                  <a:srgbClr val="F5D200"/>
                </a:solidFill>
                <a:latin typeface="Arial"/>
              </a:rPr>
              <a:t>Aktuelle</a:t>
            </a:r>
            <a:r>
              <a:rPr sz="1700" b="1" dirty="0">
                <a:solidFill>
                  <a:srgbClr val="F5D200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5D200"/>
                </a:solidFill>
                <a:latin typeface="Arial"/>
              </a:rPr>
              <a:t>Epidemiologie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1300" y="2662998"/>
            <a:ext cx="2057400" cy="5334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FFFFFF"/>
                </a:solidFill>
                <a:latin typeface="Arial"/>
              </a:rPr>
              <a:t>zirkulierende</a:t>
            </a:r>
            <a:r>
              <a:rPr sz="17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Arial"/>
              </a:rPr>
              <a:t>Serotypen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58300" y="1946718"/>
            <a:ext cx="2438400" cy="1569720"/>
          </a:xfrm>
          <a:prstGeom prst="roundRect">
            <a:avLst>
              <a:gd name="adj" fmla="val 9320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448800" y="2213418"/>
            <a:ext cx="205740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 err="1">
                <a:solidFill>
                  <a:srgbClr val="F5D200"/>
                </a:solidFill>
                <a:latin typeface="Arial"/>
              </a:rPr>
              <a:t>Klinischer</a:t>
            </a:r>
            <a:r>
              <a:rPr sz="1700" b="1" dirty="0">
                <a:solidFill>
                  <a:srgbClr val="F5D200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5D200"/>
                </a:solidFill>
                <a:latin typeface="Arial"/>
              </a:rPr>
              <a:t>Nutzen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448800" y="2662998"/>
            <a:ext cx="2057400" cy="5334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>
            <a:normAutofit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0" dirty="0" err="1">
                <a:solidFill>
                  <a:srgbClr val="FFFFFF"/>
                </a:solidFill>
                <a:latin typeface="Arial"/>
              </a:rPr>
              <a:t>Wirksamkeit</a:t>
            </a:r>
            <a:r>
              <a:rPr sz="1700" b="0" dirty="0">
                <a:solidFill>
                  <a:srgbClr val="FFFFFF"/>
                </a:solidFill>
                <a:latin typeface="Arial"/>
              </a:rPr>
              <a:t> &amp;</a:t>
            </a:r>
            <a:endParaRPr lang="en-US" sz="15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FFFFFF"/>
                </a:solidFill>
                <a:latin typeface="Arial"/>
              </a:rPr>
              <a:t>Zielgruppe</a:t>
            </a:r>
            <a:endParaRPr sz="17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3900" y="3977256"/>
            <a:ext cx="10744200" cy="1480000"/>
          </a:xfrm>
          <a:prstGeom prst="roundRect">
            <a:avLst>
              <a:gd name="adj" fmla="val 10909"/>
            </a:avLst>
          </a:prstGeom>
          <a:solidFill>
            <a:srgbClr val="202527"/>
          </a:solidFill>
          <a:ln w="12700">
            <a:solidFill>
              <a:srgbClr val="8993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23900" y="5603590"/>
            <a:ext cx="10744200" cy="419100"/>
          </a:xfrm>
          <a:prstGeom prst="roundRect">
            <a:avLst>
              <a:gd name="adj" fmla="val 30545"/>
            </a:avLst>
          </a:prstGeom>
          <a:solidFill>
            <a:srgbClr val="FFD5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3900" y="5699772"/>
            <a:ext cx="10744200" cy="2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dirty="0" err="1">
                <a:solidFill>
                  <a:srgbClr val="202527"/>
                </a:solidFill>
                <a:latin typeface="Arial"/>
              </a:rPr>
              <a:t>Merksatz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Serotypenabdeckung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ist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ein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relevanter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Aspekt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– für die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Impfentscheidung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bleibt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die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aktuelle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STIKO-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Empfehlung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527"/>
                </a:solidFill>
                <a:latin typeface="Arial"/>
              </a:rPr>
              <a:t>maßgeblich</a:t>
            </a:r>
            <a:r>
              <a:rPr sz="1300" b="0" dirty="0">
                <a:solidFill>
                  <a:srgbClr val="202527"/>
                </a:solidFill>
                <a:latin typeface="Arial"/>
              </a:rPr>
              <a:t>. [1,2,4]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1000" y="4207256"/>
            <a:ext cx="18000" cy="82000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11806" y="4267256"/>
            <a:ext cx="25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5D200"/>
                </a:solidFill>
                <a:latin typeface="Arial"/>
              </a:rPr>
              <a:t>PCV13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000" y="4717256"/>
            <a:ext cx="4500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1 · 3 · 4 · 5 · 6A · 6B · 7F · 9V · 14 · 18C · 19A · 19F · 23F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0000" y="4267256"/>
            <a:ext cx="20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F5D200"/>
                </a:solidFill>
                <a:latin typeface="Arial"/>
              </a:rPr>
              <a:t>PCV15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000" y="4717256"/>
            <a:ext cx="370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PCV13-Serotypen + 22F + 33F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25EDA31A-5D45-5B31-179C-2F3974AB131A}"/>
              </a:ext>
            </a:extLst>
          </p:cNvPr>
          <p:cNvSpPr/>
          <p:nvPr/>
        </p:nvSpPr>
        <p:spPr>
          <a:xfrm>
            <a:off x="685800" y="952500"/>
            <a:ext cx="10896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Impfstoffe</a:t>
            </a: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Serotypenabdeckung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einordnen</a:t>
            </a:r>
            <a:endParaRPr lang="en-US" sz="35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D5DA675F-8E40-5E9D-36E3-C871899C4839}"/>
              </a:ext>
            </a:extLst>
          </p:cNvPr>
          <p:cNvSpPr/>
          <p:nvPr/>
        </p:nvSpPr>
        <p:spPr>
          <a:xfrm>
            <a:off x="876299" y="6051278"/>
            <a:ext cx="10419229" cy="792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de-DE" sz="750" dirty="0">
                <a:solidFill>
                  <a:schemeClr val="bg1"/>
                </a:solidFill>
              </a:rPr>
              <a:t>Quellen:</a:t>
            </a:r>
          </a:p>
          <a:p>
            <a:r>
              <a:rPr lang="de-DE" sz="750" dirty="0">
                <a:solidFill>
                  <a:schemeClr val="bg1"/>
                </a:solidFill>
              </a:rPr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750" dirty="0">
                <a:solidFill>
                  <a:schemeClr val="bg1"/>
                </a:solidFill>
              </a:rPr>
              <a:t>2. Robert Koch-Institut: Empfehlungen der Ständigen Impfkommission (STIKO) beim Robert Koch-Institut 2026. Version 6, aktualisiert am 10.09.2026. Epidemiologisches Bulletin 4/2026.</a:t>
            </a:r>
          </a:p>
          <a:p>
            <a:r>
              <a:rPr lang="de-DE" sz="750" dirty="0">
                <a:solidFill>
                  <a:schemeClr val="bg1"/>
                </a:solidFill>
              </a:rPr>
              <a:t>4. STIKO: Stellungnahme zum Einsatz von Pneumokokken-</a:t>
            </a:r>
            <a:r>
              <a:rPr lang="de-DE" sz="750" dirty="0" err="1">
                <a:solidFill>
                  <a:schemeClr val="bg1"/>
                </a:solidFill>
              </a:rPr>
              <a:t>Konjugatimpfstoffen</a:t>
            </a:r>
            <a:r>
              <a:rPr lang="de-DE" sz="750" dirty="0">
                <a:solidFill>
                  <a:schemeClr val="bg1"/>
                </a:solidFill>
              </a:rPr>
              <a:t> im Säuglings-, Kindes- und Jugendalter. Epidemiologisches Bulletin 20/2023.</a:t>
            </a:r>
            <a:endParaRPr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STANDARDIMPFUNG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1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Säuglinge zeitgerecht schützen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780640"/>
            <a:ext cx="1066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sz="2100" dirty="0"/>
              <a:t>STIKO 2026: Für die </a:t>
            </a:r>
            <a:r>
              <a:rPr sz="2100" dirty="0" err="1"/>
              <a:t>Grundimmunisierung</a:t>
            </a:r>
            <a:r>
              <a:rPr sz="2100" dirty="0"/>
              <a:t> von </a:t>
            </a:r>
            <a:r>
              <a:rPr sz="2100" dirty="0" err="1"/>
              <a:t>Säuglingen</a:t>
            </a:r>
            <a:r>
              <a:rPr sz="2100" dirty="0"/>
              <a:t> </a:t>
            </a:r>
            <a:r>
              <a:rPr sz="2100" dirty="0" err="1"/>
              <a:t>werden</a:t>
            </a:r>
            <a:r>
              <a:rPr sz="2100" dirty="0"/>
              <a:t> PCV13 </a:t>
            </a:r>
            <a:r>
              <a:rPr sz="2100" dirty="0" err="1"/>
              <a:t>oder</a:t>
            </a:r>
            <a:r>
              <a:rPr sz="2100" dirty="0"/>
              <a:t> PCV15</a:t>
            </a:r>
          </a:p>
          <a:p>
            <a:r>
              <a:rPr sz="2100" dirty="0" err="1"/>
              <a:t>empfohlen</a:t>
            </a:r>
            <a:r>
              <a:rPr sz="2100" dirty="0"/>
              <a:t>. [2]</a:t>
            </a:r>
          </a:p>
        </p:txBody>
      </p:sp>
      <p:sp>
        <p:nvSpPr>
          <p:cNvPr id="6" name="Text 4"/>
          <p:cNvSpPr/>
          <p:nvPr/>
        </p:nvSpPr>
        <p:spPr>
          <a:xfrm>
            <a:off x="762000" y="257068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Reifgeborene · 2+1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0" y="3104080"/>
            <a:ext cx="7848600" cy="0"/>
          </a:xfrm>
          <a:prstGeom prst="line">
            <a:avLst/>
          </a:prstGeom>
          <a:noFill/>
          <a:ln w="50800">
            <a:solidFill>
              <a:srgbClr val="B9BE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236720" y="283738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35780" y="295930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44340" y="345460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9740" y="283738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638800" y="295930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47360" y="345460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26980" y="283738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26040" y="295930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134600" y="345460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411266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Frühgeborene · 3+1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200400" y="4607960"/>
            <a:ext cx="7848600" cy="0"/>
          </a:xfrm>
          <a:prstGeom prst="line">
            <a:avLst/>
          </a:prstGeom>
          <a:noFill/>
          <a:ln w="50800">
            <a:solidFill>
              <a:srgbClr val="B9BE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236720" y="434126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35780" y="446318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244340" y="49584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84420" y="434126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983480" y="446318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892040" y="49584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9740" y="434126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638800" y="446318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547360" y="49584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126980" y="4341260"/>
            <a:ext cx="548640" cy="548640"/>
          </a:xfrm>
          <a:prstGeom prst="ellipse">
            <a:avLst/>
          </a:prstGeom>
          <a:solidFill>
            <a:srgbClr val="FFD500"/>
          </a:solidFill>
          <a:ln w="254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226040" y="4463180"/>
            <a:ext cx="350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134600" y="49584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7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5341920"/>
            <a:ext cx="10820400" cy="624840"/>
          </a:xfrm>
          <a:prstGeom prst="roundRect">
            <a:avLst>
              <a:gd name="adj" fmla="val 20488"/>
            </a:avLst>
          </a:prstGeom>
          <a:solidFill>
            <a:srgbClr val="FFF0A1"/>
          </a:solidFill>
          <a:ln w="12700">
            <a:solidFill>
              <a:srgbClr val="FFF0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" y="5456220"/>
            <a:ext cx="10363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00"/>
              <a:t>Bei versäumtem oder verschobenem Termin: Impfstatus prüfen → fehlende Dosis erkennen → altersgerechtes Nachholschema prüfen</a:t>
            </a:r>
          </a:p>
          <a:p>
            <a:r>
              <a:rPr sz="1300"/>
              <a:t>→ nächsten Impftermin verbindlich planen [2]</a:t>
            </a:r>
          </a:p>
        </p:txBody>
      </p:sp>
      <p:sp>
        <p:nvSpPr>
          <p:cNvPr id="33" name="Text 31"/>
          <p:cNvSpPr/>
          <p:nvPr/>
        </p:nvSpPr>
        <p:spPr>
          <a:xfrm>
            <a:off x="762000" y="6127079"/>
            <a:ext cx="10744200" cy="73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dirty="0" err="1"/>
              <a:t>Vereinfachte</a:t>
            </a:r>
            <a:r>
              <a:rPr sz="900" dirty="0"/>
              <a:t> </a:t>
            </a:r>
            <a:r>
              <a:rPr sz="900" dirty="0" err="1"/>
              <a:t>Darstellung</a:t>
            </a:r>
            <a:r>
              <a:rPr sz="900" dirty="0"/>
              <a:t>; </a:t>
            </a:r>
            <a:r>
              <a:rPr sz="900" dirty="0" err="1"/>
              <a:t>individuelle</a:t>
            </a:r>
            <a:r>
              <a:rPr sz="900" dirty="0"/>
              <a:t> </a:t>
            </a:r>
            <a:r>
              <a:rPr sz="900" dirty="0" err="1"/>
              <a:t>Nachholimpfung</a:t>
            </a:r>
            <a:r>
              <a:rPr sz="900" dirty="0"/>
              <a:t> </a:t>
            </a:r>
            <a:r>
              <a:rPr sz="900" dirty="0" err="1"/>
              <a:t>nach</a:t>
            </a:r>
            <a:r>
              <a:rPr sz="900" dirty="0"/>
              <a:t> </a:t>
            </a:r>
            <a:r>
              <a:rPr sz="900" dirty="0" err="1"/>
              <a:t>aktueller</a:t>
            </a:r>
            <a:r>
              <a:rPr sz="900" dirty="0"/>
              <a:t> STIKO </a:t>
            </a:r>
            <a:r>
              <a:rPr sz="900" dirty="0" err="1"/>
              <a:t>prüfen</a:t>
            </a:r>
            <a:r>
              <a:rPr sz="900" dirty="0"/>
              <a:t>.</a:t>
            </a:r>
            <a:r>
              <a:rPr lang="de-DE" sz="900" dirty="0"/>
              <a:t> Quellen:</a:t>
            </a:r>
            <a:br>
              <a:rPr lang="de-DE" sz="900" dirty="0"/>
            </a:br>
            <a:r>
              <a:rPr lang="de-DE" sz="900" dirty="0"/>
              <a:t>2. Robert Koch-Institut: Empfehlungen der Ständigen Impfkommission (STIKO) beim Robert Koch-Institut 2026. Version 6, aktualisiert am 10.09.2026. Epidemiologisches Bulletin 4/2026.</a:t>
            </a:r>
          </a:p>
          <a:p>
            <a:r>
              <a:rPr lang="de-DE" sz="900" dirty="0"/>
              <a:t>6. Rieck T, Steffen A, Lottes M, </a:t>
            </a:r>
            <a:r>
              <a:rPr lang="de-DE" sz="900" dirty="0" err="1"/>
              <a:t>Badenschier</a:t>
            </a:r>
            <a:r>
              <a:rPr lang="de-DE" sz="900" dirty="0"/>
              <a:t> F, Feig M, Rau C: Impfquoten in Deutschland. Epidemiologisches Bulletin 50/2025; aktualisierte Version 2 vom 14.01.2026.</a:t>
            </a:r>
          </a:p>
          <a:p>
            <a:r>
              <a:rPr lang="de-DE" sz="900" dirty="0"/>
              <a:t>7. Kühne F, von </a:t>
            </a:r>
            <a:r>
              <a:rPr lang="de-DE" sz="900" dirty="0" err="1"/>
              <a:t>Eiff</a:t>
            </a:r>
            <a:r>
              <a:rPr lang="de-DE" sz="900" dirty="0"/>
              <a:t> C, Schiffner-Rohe J et al.: Impact of </a:t>
            </a:r>
            <a:r>
              <a:rPr lang="de-DE" sz="900" dirty="0" err="1"/>
              <a:t>Revised</a:t>
            </a:r>
            <a:r>
              <a:rPr lang="de-DE" sz="900" dirty="0"/>
              <a:t> </a:t>
            </a:r>
            <a:r>
              <a:rPr lang="de-DE" sz="900" dirty="0" err="1"/>
              <a:t>Vaccination</a:t>
            </a:r>
            <a:r>
              <a:rPr lang="de-DE" sz="900" dirty="0"/>
              <a:t> </a:t>
            </a:r>
            <a:r>
              <a:rPr lang="de-DE" sz="900" dirty="0" err="1"/>
              <a:t>Recommendations</a:t>
            </a:r>
            <a:r>
              <a:rPr lang="de-DE" sz="900" dirty="0"/>
              <a:t> for Mature </a:t>
            </a:r>
            <a:r>
              <a:rPr lang="de-DE" sz="900" dirty="0" err="1"/>
              <a:t>Infants</a:t>
            </a:r>
            <a:r>
              <a:rPr lang="de-DE" sz="900" dirty="0"/>
              <a:t> on </a:t>
            </a:r>
            <a:r>
              <a:rPr lang="de-DE" sz="900" dirty="0" err="1"/>
              <a:t>Premature</a:t>
            </a:r>
            <a:r>
              <a:rPr lang="de-DE" sz="900" dirty="0"/>
              <a:t> </a:t>
            </a:r>
            <a:r>
              <a:rPr lang="de-DE" sz="900" dirty="0" err="1"/>
              <a:t>Infants</a:t>
            </a:r>
            <a:r>
              <a:rPr lang="de-DE" sz="900" dirty="0"/>
              <a:t>’ </a:t>
            </a:r>
            <a:r>
              <a:rPr lang="de-DE" sz="900" dirty="0" err="1"/>
              <a:t>Vaccination</a:t>
            </a:r>
            <a:r>
              <a:rPr lang="de-DE" sz="900" dirty="0"/>
              <a:t> Compliance in Germany. </a:t>
            </a:r>
            <a:r>
              <a:rPr lang="de-DE" sz="900" dirty="0" err="1"/>
              <a:t>Infectious</a:t>
            </a:r>
            <a:r>
              <a:rPr lang="de-DE" sz="900" dirty="0"/>
              <a:t> </a:t>
            </a:r>
            <a:r>
              <a:rPr lang="de-DE" sz="900" dirty="0" err="1"/>
              <a:t>Diseases</a:t>
            </a:r>
            <a:r>
              <a:rPr lang="de-DE" sz="900" dirty="0"/>
              <a:t> and Therapy. 2025;14:1867–1882.</a:t>
            </a:r>
          </a:p>
          <a:p>
            <a:endParaRPr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PRAXIS-FAQ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Häufige Fragen zur Impfversorgung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6300" y="24765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2980" y="25603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5900" y="2499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PCV13 begonnen –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PCV15</a:t>
            </a:r>
            <a:r>
              <a:rPr lang="en-US" sz="1700" dirty="0"/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fortsetzen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67200" y="22860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457700" y="24765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64380" y="25603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67299" y="2499360"/>
            <a:ext cx="22250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Grundimmunisierung</a:t>
            </a:r>
            <a:r>
              <a:rPr lang="en-US" sz="1700" dirty="0"/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verspätet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unvollständig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848600" y="22860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39100" y="24765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45780" y="25603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8700" y="2499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verändert sich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2 Jahren?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" y="41529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76300" y="43434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82980" y="44272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5900" y="43662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Impfstatus oder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Vorimpfungen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unklar?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267200" y="41529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457700" y="43434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64380" y="44272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67300" y="4366260"/>
            <a:ext cx="22250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Grunderkrankung /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Therapie /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Immunsuppression?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848600" y="4152900"/>
            <a:ext cx="3124200" cy="1447800"/>
          </a:xfrm>
          <a:prstGeom prst="roundRect">
            <a:avLst>
              <a:gd name="adj" fmla="val 10105"/>
            </a:avLst>
          </a:prstGeom>
          <a:solidFill>
            <a:srgbClr val="2A686F"/>
          </a:solidFill>
          <a:ln w="12700">
            <a:solidFill>
              <a:srgbClr val="AAC3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039100" y="4343400"/>
            <a:ext cx="441960" cy="44196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145780" y="4427220"/>
            <a:ext cx="228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648700" y="43662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</a:t>
            </a:r>
            <a:r>
              <a:rPr lang="en-US" sz="1700" dirty="0"/>
              <a:t> 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Risiko-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impfungen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Alltag zuverlässig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umsetzen?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76300" y="5941009"/>
            <a:ext cx="10096500" cy="8048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00" dirty="0" err="1">
                <a:solidFill>
                  <a:schemeClr val="bg1"/>
                </a:solidFill>
              </a:rPr>
              <a:t>Medizinische</a:t>
            </a:r>
            <a:r>
              <a:rPr sz="900" dirty="0">
                <a:solidFill>
                  <a:schemeClr val="bg1"/>
                </a:solidFill>
              </a:rPr>
              <a:t> </a:t>
            </a:r>
            <a:r>
              <a:rPr sz="900" dirty="0" err="1">
                <a:solidFill>
                  <a:schemeClr val="bg1"/>
                </a:solidFill>
              </a:rPr>
              <a:t>Kurzantworten</a:t>
            </a:r>
            <a:r>
              <a:rPr sz="900" dirty="0">
                <a:solidFill>
                  <a:schemeClr val="bg1"/>
                </a:solidFill>
              </a:rPr>
              <a:t> </a:t>
            </a:r>
            <a:r>
              <a:rPr sz="900" dirty="0" err="1">
                <a:solidFill>
                  <a:schemeClr val="bg1"/>
                </a:solidFill>
              </a:rPr>
              <a:t>im</a:t>
            </a:r>
            <a:r>
              <a:rPr sz="900" dirty="0">
                <a:solidFill>
                  <a:schemeClr val="bg1"/>
                </a:solidFill>
              </a:rPr>
              <a:t> </a:t>
            </a:r>
            <a:r>
              <a:rPr sz="900" dirty="0" err="1">
                <a:solidFill>
                  <a:schemeClr val="bg1"/>
                </a:solidFill>
              </a:rPr>
              <a:t>Kapitel</a:t>
            </a:r>
            <a:r>
              <a:rPr sz="900" dirty="0">
                <a:solidFill>
                  <a:schemeClr val="bg1"/>
                </a:solidFill>
              </a:rPr>
              <a:t>. </a:t>
            </a:r>
            <a:r>
              <a:rPr sz="900" dirty="0" err="1">
                <a:solidFill>
                  <a:schemeClr val="bg1"/>
                </a:solidFill>
              </a:rPr>
              <a:t>Quellen</a:t>
            </a:r>
            <a:r>
              <a:rPr sz="900" dirty="0">
                <a:solidFill>
                  <a:schemeClr val="bg1"/>
                </a:solidFill>
              </a:rPr>
              <a:t>:</a:t>
            </a:r>
            <a:endParaRPr lang="de-DE" sz="900" dirty="0">
              <a:solidFill>
                <a:schemeClr val="bg1"/>
              </a:solidFill>
            </a:endParaRPr>
          </a:p>
          <a:p>
            <a:r>
              <a:rPr lang="de-DE" sz="900" dirty="0">
                <a:solidFill>
                  <a:schemeClr val="bg1"/>
                </a:solidFill>
              </a:rPr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900" dirty="0">
                <a:solidFill>
                  <a:schemeClr val="bg1"/>
                </a:solidFill>
              </a:rPr>
              <a:t>2. Robert Koch-Institut: Empfehlungen der Ständigen Impfkommission (STIKO) beim Robert Koch-Institut 2026. Version 6, aktualisiert am 10.09.2026. Epidemiologisches Bulletin 4/2026.</a:t>
            </a:r>
          </a:p>
          <a:p>
            <a:r>
              <a:rPr lang="de-DE" sz="900" dirty="0">
                <a:solidFill>
                  <a:schemeClr val="bg1"/>
                </a:solidFill>
              </a:rPr>
              <a:t>4. STIKO: Stellungnahme zum Einsatz von Pneumokokken-</a:t>
            </a:r>
            <a:r>
              <a:rPr lang="de-DE" sz="900" dirty="0" err="1">
                <a:solidFill>
                  <a:schemeClr val="bg1"/>
                </a:solidFill>
              </a:rPr>
              <a:t>Konjugatimpfstoffen</a:t>
            </a:r>
            <a:r>
              <a:rPr lang="de-DE" sz="900" dirty="0">
                <a:solidFill>
                  <a:schemeClr val="bg1"/>
                </a:solidFill>
              </a:rPr>
              <a:t> im Säuglings-, Kindes- und Jugendalter. Epidemiologisches Bulletin 20/2023.</a:t>
            </a:r>
            <a:endParaRPr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>
            <a:extLst>
              <a:ext uri="{FF2B5EF4-FFF2-40B4-BE49-F238E27FC236}">
                <a16:creationId xmlns:a16="http://schemas.microsoft.com/office/drawing/2014/main" id="{16A102AA-CC5F-0E8B-EA6A-8EC887250441}"/>
              </a:ext>
            </a:extLst>
          </p:cNvPr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32A70B2C-5F63-1645-A12B-435584F1982D}"/>
              </a:ext>
            </a:extLst>
          </p:cNvPr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RISIKOGRUPPEN</a:t>
            </a:r>
            <a:endParaRPr lang="en-US" sz="2200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988CCAFF-2044-FE86-7124-32F6899BB64A}"/>
              </a:ext>
            </a:extLst>
          </p:cNvPr>
          <p:cNvSpPr/>
          <p:nvPr/>
        </p:nvSpPr>
        <p:spPr>
          <a:xfrm>
            <a:off x="685800" y="960120"/>
            <a:ext cx="10744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de-DE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Risikofaktoren erkennen – </a:t>
            </a:r>
          </a:p>
          <a:p>
            <a:r>
              <a:rPr lang="de-DE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Impfplanung individuell ausrichten</a:t>
            </a:r>
            <a:endParaRPr lang="en-US" sz="3600" dirty="0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E21EB6D9-5764-BE2B-D60E-4F30EB1DE356}"/>
              </a:ext>
            </a:extLst>
          </p:cNvPr>
          <p:cNvSpPr/>
          <p:nvPr/>
        </p:nvSpPr>
        <p:spPr>
          <a:xfrm>
            <a:off x="685800" y="2209800"/>
            <a:ext cx="33528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C1DCB89C-5E19-1003-0F9D-0B8349BF989A}"/>
              </a:ext>
            </a:extLst>
          </p:cNvPr>
          <p:cNvSpPr/>
          <p:nvPr/>
        </p:nvSpPr>
        <p:spPr>
          <a:xfrm>
            <a:off x="876300" y="2438400"/>
            <a:ext cx="441960" cy="44196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4281C047-1B8D-79DA-8166-438FF99CF38C}"/>
              </a:ext>
            </a:extLst>
          </p:cNvPr>
          <p:cNvSpPr/>
          <p:nvPr/>
        </p:nvSpPr>
        <p:spPr>
          <a:xfrm>
            <a:off x="982980" y="2529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E7CD6A77-407D-1419-867A-FD3AA19F5517}"/>
              </a:ext>
            </a:extLst>
          </p:cNvPr>
          <p:cNvSpPr/>
          <p:nvPr/>
        </p:nvSpPr>
        <p:spPr>
          <a:xfrm>
            <a:off x="1485900" y="2392680"/>
            <a:ext cx="232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Immundefekte</a:t>
            </a:r>
            <a:endParaRPr lang="en-US" sz="1500" dirty="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44E64691-49D7-CABF-2D66-7756AFDD2AA3}"/>
              </a:ext>
            </a:extLst>
          </p:cNvPr>
          <p:cNvSpPr/>
          <p:nvPr/>
        </p:nvSpPr>
        <p:spPr>
          <a:xfrm>
            <a:off x="1485900" y="2796540"/>
            <a:ext cx="2324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angeboren / erworben</a:t>
            </a:r>
            <a:endParaRPr lang="en-US" sz="1300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CE84EA36-47DA-1BBF-D61F-0FB9DFE146CF}"/>
              </a:ext>
            </a:extLst>
          </p:cNvPr>
          <p:cNvSpPr/>
          <p:nvPr/>
        </p:nvSpPr>
        <p:spPr>
          <a:xfrm>
            <a:off x="4495800" y="2209800"/>
            <a:ext cx="33528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543C5BC8-9552-E242-32F4-E1C58F78F0E3}"/>
              </a:ext>
            </a:extLst>
          </p:cNvPr>
          <p:cNvSpPr/>
          <p:nvPr/>
        </p:nvSpPr>
        <p:spPr>
          <a:xfrm>
            <a:off x="4686300" y="2438400"/>
            <a:ext cx="441960" cy="44196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97C4DF07-68E1-E460-C7B6-D62599D20A59}"/>
              </a:ext>
            </a:extLst>
          </p:cNvPr>
          <p:cNvSpPr/>
          <p:nvPr/>
        </p:nvSpPr>
        <p:spPr>
          <a:xfrm>
            <a:off x="4792980" y="2529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ED922540-C890-FC8C-05A2-DE9C56EFE160}"/>
              </a:ext>
            </a:extLst>
          </p:cNvPr>
          <p:cNvSpPr/>
          <p:nvPr/>
        </p:nvSpPr>
        <p:spPr>
          <a:xfrm>
            <a:off x="5295900" y="2392680"/>
            <a:ext cx="2552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Chronische Erkrankungen</a:t>
            </a:r>
            <a:endParaRPr lang="en-US" sz="1500" dirty="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065E4853-956B-ED01-6FC7-F7C331B02253}"/>
              </a:ext>
            </a:extLst>
          </p:cNvPr>
          <p:cNvSpPr/>
          <p:nvPr/>
        </p:nvSpPr>
        <p:spPr>
          <a:xfrm>
            <a:off x="5295900" y="2796540"/>
            <a:ext cx="2324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 B. Asthma als Praxisbeispiel</a:t>
            </a:r>
            <a:endParaRPr lang="en-US" sz="1300" dirty="0"/>
          </a:p>
        </p:txBody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E663EC0B-FF27-BDB3-AA4B-9E595C974613}"/>
              </a:ext>
            </a:extLst>
          </p:cNvPr>
          <p:cNvSpPr/>
          <p:nvPr/>
        </p:nvSpPr>
        <p:spPr>
          <a:xfrm>
            <a:off x="8305800" y="2209800"/>
            <a:ext cx="33528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82D66DED-8D70-BAC8-40A7-1DBC9D4082AA}"/>
              </a:ext>
            </a:extLst>
          </p:cNvPr>
          <p:cNvSpPr/>
          <p:nvPr/>
        </p:nvSpPr>
        <p:spPr>
          <a:xfrm>
            <a:off x="8496300" y="2438400"/>
            <a:ext cx="441960" cy="44196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E2702D53-7A60-8C70-60F7-16DF8AEF824A}"/>
              </a:ext>
            </a:extLst>
          </p:cNvPr>
          <p:cNvSpPr/>
          <p:nvPr/>
        </p:nvSpPr>
        <p:spPr>
          <a:xfrm>
            <a:off x="8602980" y="2529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00B395E9-9A3B-455F-3598-F24ECD6A44A7}"/>
              </a:ext>
            </a:extLst>
          </p:cNvPr>
          <p:cNvSpPr/>
          <p:nvPr/>
        </p:nvSpPr>
        <p:spPr>
          <a:xfrm>
            <a:off x="9105900" y="2392680"/>
            <a:ext cx="232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Anatomische / Fremdkörper-Risiken</a:t>
            </a:r>
            <a:endParaRPr lang="en-US" sz="1500" dirty="0"/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54C90B99-C8A3-154E-2908-9E7F8F663086}"/>
              </a:ext>
            </a:extLst>
          </p:cNvPr>
          <p:cNvSpPr/>
          <p:nvPr/>
        </p:nvSpPr>
        <p:spPr>
          <a:xfrm>
            <a:off x="9105900" y="2796540"/>
            <a:ext cx="2324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 B. Cochlea-Implantat</a:t>
            </a:r>
            <a:endParaRPr lang="en-US" sz="1300" dirty="0"/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D6569B35-523D-C00E-44AC-2A42B3A49BFC}"/>
              </a:ext>
            </a:extLst>
          </p:cNvPr>
          <p:cNvSpPr/>
          <p:nvPr/>
        </p:nvSpPr>
        <p:spPr>
          <a:xfrm>
            <a:off x="1257300" y="4602194"/>
            <a:ext cx="9334500" cy="0"/>
          </a:xfrm>
          <a:prstGeom prst="line">
            <a:avLst/>
          </a:prstGeom>
          <a:noFill/>
          <a:ln w="381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19">
            <a:extLst>
              <a:ext uri="{FF2B5EF4-FFF2-40B4-BE49-F238E27FC236}">
                <a16:creationId xmlns:a16="http://schemas.microsoft.com/office/drawing/2014/main" id="{7E481502-7B7F-83F8-F8CB-246B9C1FDD23}"/>
              </a:ext>
            </a:extLst>
          </p:cNvPr>
          <p:cNvSpPr/>
          <p:nvPr/>
        </p:nvSpPr>
        <p:spPr>
          <a:xfrm>
            <a:off x="685800" y="4114514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CAE9BB20-1F9A-062F-7503-5D8BA0CEAE7C}"/>
              </a:ext>
            </a:extLst>
          </p:cNvPr>
          <p:cNvSpPr/>
          <p:nvPr/>
        </p:nvSpPr>
        <p:spPr>
          <a:xfrm>
            <a:off x="822960" y="429739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Grund-</a:t>
            </a:r>
            <a:r>
              <a:rPr lang="en-US" sz="1500" b="1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erkrankung</a:t>
            </a:r>
            <a:endParaRPr lang="en-US" sz="1500" dirty="0"/>
          </a:p>
        </p:txBody>
      </p:sp>
      <p:sp>
        <p:nvSpPr>
          <p:cNvPr id="78" name="Shape 21">
            <a:extLst>
              <a:ext uri="{FF2B5EF4-FFF2-40B4-BE49-F238E27FC236}">
                <a16:creationId xmlns:a16="http://schemas.microsoft.com/office/drawing/2014/main" id="{7740F836-22A7-66C7-2162-89279A76AD07}"/>
              </a:ext>
            </a:extLst>
          </p:cNvPr>
          <p:cNvSpPr/>
          <p:nvPr/>
        </p:nvSpPr>
        <p:spPr>
          <a:xfrm>
            <a:off x="2514600" y="4114514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B0B6B015-2FF0-604C-2EBE-605352EA48A9}"/>
              </a:ext>
            </a:extLst>
          </p:cNvPr>
          <p:cNvSpPr/>
          <p:nvPr/>
        </p:nvSpPr>
        <p:spPr>
          <a:xfrm>
            <a:off x="2651760" y="429739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Schweregrad</a:t>
            </a:r>
            <a:endParaRPr lang="en-US" sz="1500" dirty="0"/>
          </a:p>
        </p:txBody>
      </p:sp>
      <p:sp>
        <p:nvSpPr>
          <p:cNvPr id="82" name="Shape 23">
            <a:extLst>
              <a:ext uri="{FF2B5EF4-FFF2-40B4-BE49-F238E27FC236}">
                <a16:creationId xmlns:a16="http://schemas.microsoft.com/office/drawing/2014/main" id="{29DED5CC-AFE6-65CA-07ED-4E3D24EA38AC}"/>
              </a:ext>
            </a:extLst>
          </p:cNvPr>
          <p:cNvSpPr/>
          <p:nvPr/>
        </p:nvSpPr>
        <p:spPr>
          <a:xfrm>
            <a:off x="4343400" y="4114514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A9CECCFA-2490-899E-4B79-BDCBCD09477E}"/>
              </a:ext>
            </a:extLst>
          </p:cNvPr>
          <p:cNvSpPr/>
          <p:nvPr/>
        </p:nvSpPr>
        <p:spPr>
          <a:xfrm>
            <a:off x="4480560" y="429739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Therapie /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</a:t>
            </a: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-suppression</a:t>
            </a:r>
            <a:endParaRPr lang="en-US" sz="1500" dirty="0"/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8C8EE981-4FC2-4E3C-C5F8-400B1485EFFF}"/>
              </a:ext>
            </a:extLst>
          </p:cNvPr>
          <p:cNvSpPr/>
          <p:nvPr/>
        </p:nvSpPr>
        <p:spPr>
          <a:xfrm>
            <a:off x="6172200" y="4114514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A6C16B58-CEAC-A33A-3C7A-D5BC6F653A67}"/>
              </a:ext>
            </a:extLst>
          </p:cNvPr>
          <p:cNvSpPr/>
          <p:nvPr/>
        </p:nvSpPr>
        <p:spPr>
          <a:xfrm>
            <a:off x="6309360" y="429739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</a:t>
            </a:r>
            <a:endParaRPr lang="en-US" sz="1500" dirty="0"/>
          </a:p>
        </p:txBody>
      </p:sp>
      <p:sp>
        <p:nvSpPr>
          <p:cNvPr id="90" name="Shape 27">
            <a:extLst>
              <a:ext uri="{FF2B5EF4-FFF2-40B4-BE49-F238E27FC236}">
                <a16:creationId xmlns:a16="http://schemas.microsoft.com/office/drawing/2014/main" id="{D48771D2-45AC-D18D-2136-F8CBE6014FDA}"/>
              </a:ext>
            </a:extLst>
          </p:cNvPr>
          <p:cNvSpPr/>
          <p:nvPr/>
        </p:nvSpPr>
        <p:spPr>
          <a:xfrm>
            <a:off x="8001000" y="4114514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66FCB353-F86F-741C-E01B-7B114A211A6D}"/>
              </a:ext>
            </a:extLst>
          </p:cNvPr>
          <p:cNvSpPr/>
          <p:nvPr/>
        </p:nvSpPr>
        <p:spPr>
          <a:xfrm>
            <a:off x="8138160" y="429739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Impfstatus</a:t>
            </a:r>
            <a:endParaRPr lang="en-US" sz="1500" dirty="0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1A86A95C-A2ED-3B5F-CFA8-4AF776F7CF4D}"/>
              </a:ext>
            </a:extLst>
          </p:cNvPr>
          <p:cNvSpPr/>
          <p:nvPr/>
        </p:nvSpPr>
        <p:spPr>
          <a:xfrm>
            <a:off x="9829800" y="4114514"/>
            <a:ext cx="1714500" cy="960120"/>
          </a:xfrm>
          <a:prstGeom prst="roundRect">
            <a:avLst>
              <a:gd name="adj" fmla="val 11429"/>
            </a:avLst>
          </a:prstGeom>
          <a:solidFill>
            <a:srgbClr val="E7ECE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F48CAD64-81E7-3753-D272-AAEA78164C2D}"/>
              </a:ext>
            </a:extLst>
          </p:cNvPr>
          <p:cNvSpPr/>
          <p:nvPr/>
        </p:nvSpPr>
        <p:spPr>
          <a:xfrm>
            <a:off x="9966960" y="429739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Versorgungs</a:t>
            </a: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-situation</a:t>
            </a:r>
            <a:endParaRPr lang="en-US" sz="1500" dirty="0"/>
          </a:p>
        </p:txBody>
      </p:sp>
      <p:sp>
        <p:nvSpPr>
          <p:cNvPr id="98" name="Shape 31">
            <a:extLst>
              <a:ext uri="{FF2B5EF4-FFF2-40B4-BE49-F238E27FC236}">
                <a16:creationId xmlns:a16="http://schemas.microsoft.com/office/drawing/2014/main" id="{A9420001-272C-CEF8-B9B9-33FD94E913E6}"/>
              </a:ext>
            </a:extLst>
          </p:cNvPr>
          <p:cNvSpPr/>
          <p:nvPr/>
        </p:nvSpPr>
        <p:spPr>
          <a:xfrm>
            <a:off x="685800" y="5386479"/>
            <a:ext cx="10820400" cy="624840"/>
          </a:xfrm>
          <a:prstGeom prst="roundRect">
            <a:avLst>
              <a:gd name="adj" fmla="val 20488"/>
            </a:avLst>
          </a:prstGeom>
          <a:solidFill>
            <a:srgbClr val="FFF0A1"/>
          </a:solidFill>
          <a:ln w="12700">
            <a:solidFill>
              <a:srgbClr val="FFF0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B9D8D55B-A28A-47ED-1F86-55DA1C48AECB}"/>
              </a:ext>
            </a:extLst>
          </p:cNvPr>
          <p:cNvSpPr/>
          <p:nvPr/>
        </p:nvSpPr>
        <p:spPr>
          <a:xfrm>
            <a:off x="822960" y="5531259"/>
            <a:ext cx="10584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 b="1" dirty="0"/>
              <a:t>STIKO-</a:t>
            </a:r>
            <a:r>
              <a:rPr sz="1200" b="1" dirty="0" err="1"/>
              <a:t>Indikation</a:t>
            </a:r>
            <a:r>
              <a:rPr sz="1200" b="1" dirty="0"/>
              <a:t> </a:t>
            </a:r>
            <a:r>
              <a:rPr sz="1200" b="1" dirty="0" err="1"/>
              <a:t>prüfen</a:t>
            </a:r>
            <a:r>
              <a:rPr sz="1200" b="1" dirty="0"/>
              <a:t>; Alter, </a:t>
            </a:r>
            <a:r>
              <a:rPr sz="1200" b="1" dirty="0" err="1"/>
              <a:t>Vorimpfungen</a:t>
            </a:r>
            <a:r>
              <a:rPr sz="1200" b="1" dirty="0"/>
              <a:t>, </a:t>
            </a:r>
            <a:r>
              <a:rPr sz="1200" b="1" dirty="0" err="1"/>
              <a:t>Therapie</a:t>
            </a:r>
            <a:r>
              <a:rPr sz="1200" b="1" dirty="0"/>
              <a:t>/</a:t>
            </a:r>
            <a:r>
              <a:rPr sz="1200" b="1" dirty="0" err="1"/>
              <a:t>Immunsuppression</a:t>
            </a:r>
            <a:r>
              <a:rPr sz="1200" b="1" dirty="0"/>
              <a:t> und </a:t>
            </a:r>
            <a:r>
              <a:rPr sz="1200" b="1" dirty="0" err="1"/>
              <a:t>Versorgungssituation</a:t>
            </a:r>
            <a:r>
              <a:rPr sz="1200" b="1" dirty="0"/>
              <a:t> </a:t>
            </a:r>
            <a:r>
              <a:rPr sz="1200" b="1" dirty="0" err="1"/>
              <a:t>bei</a:t>
            </a:r>
            <a:r>
              <a:rPr sz="1200" b="1" dirty="0"/>
              <a:t> der </a:t>
            </a:r>
            <a:r>
              <a:rPr sz="1200" b="1" dirty="0" err="1"/>
              <a:t>Umsetzung</a:t>
            </a:r>
            <a:r>
              <a:rPr sz="1200" b="1" dirty="0"/>
              <a:t> </a:t>
            </a:r>
            <a:r>
              <a:rPr sz="1200" b="1" dirty="0" err="1"/>
              <a:t>berücksichtigen</a:t>
            </a:r>
            <a:r>
              <a:rPr sz="1200" b="1" dirty="0"/>
              <a:t>. [1,2]</a:t>
            </a:r>
          </a:p>
        </p:txBody>
      </p:sp>
      <p:sp>
        <p:nvSpPr>
          <p:cNvPr id="102" name="Text 31">
            <a:extLst>
              <a:ext uri="{FF2B5EF4-FFF2-40B4-BE49-F238E27FC236}">
                <a16:creationId xmlns:a16="http://schemas.microsoft.com/office/drawing/2014/main" id="{A2CF17A9-0B20-DBF3-764D-CC3C92619C7E}"/>
              </a:ext>
            </a:extLst>
          </p:cNvPr>
          <p:cNvSpPr/>
          <p:nvPr/>
        </p:nvSpPr>
        <p:spPr>
          <a:xfrm>
            <a:off x="822960" y="6101201"/>
            <a:ext cx="10584180" cy="73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dirty="0" err="1"/>
              <a:t>Vereinfachte</a:t>
            </a:r>
            <a:r>
              <a:rPr sz="900" dirty="0"/>
              <a:t> </a:t>
            </a:r>
            <a:r>
              <a:rPr sz="900" dirty="0" err="1"/>
              <a:t>Darstellung</a:t>
            </a:r>
            <a:r>
              <a:rPr sz="900" dirty="0"/>
              <a:t>; </a:t>
            </a:r>
            <a:r>
              <a:rPr sz="900" dirty="0" err="1"/>
              <a:t>individuelle</a:t>
            </a:r>
            <a:r>
              <a:rPr sz="900" dirty="0"/>
              <a:t> </a:t>
            </a:r>
            <a:r>
              <a:rPr sz="900" dirty="0" err="1"/>
              <a:t>Nachholimpfung</a:t>
            </a:r>
            <a:r>
              <a:rPr sz="900" dirty="0"/>
              <a:t> </a:t>
            </a:r>
            <a:r>
              <a:rPr sz="900" dirty="0" err="1"/>
              <a:t>nach</a:t>
            </a:r>
            <a:r>
              <a:rPr sz="900" dirty="0"/>
              <a:t> </a:t>
            </a:r>
            <a:r>
              <a:rPr sz="900" dirty="0" err="1"/>
              <a:t>aktueller</a:t>
            </a:r>
            <a:r>
              <a:rPr sz="900" dirty="0"/>
              <a:t> STIKO </a:t>
            </a:r>
            <a:r>
              <a:rPr sz="900" dirty="0" err="1"/>
              <a:t>prüfen</a:t>
            </a:r>
            <a:r>
              <a:rPr sz="900" dirty="0"/>
              <a:t>.</a:t>
            </a:r>
            <a:r>
              <a:rPr lang="de-DE" sz="900" dirty="0"/>
              <a:t> Quellen:</a:t>
            </a:r>
            <a:br>
              <a:rPr lang="de-DE" sz="900" dirty="0"/>
            </a:br>
            <a:r>
              <a:rPr lang="de-DE" sz="900" dirty="0"/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900" dirty="0"/>
              <a:t>2. Robert Koch-Institut: Empfehlungen der Ständigen Impfkommission (STIKO) beim Robert Koch-Institut 2026. Version 6, aktualisiert am 10.09.2026. Epidemiologisches Bulletin 4/2026.</a:t>
            </a:r>
            <a:endParaRPr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3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STIKO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15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Standardimpfung und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Indikationsimpfung klar trennen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037280"/>
            <a:ext cx="5029200" cy="3293853"/>
          </a:xfrm>
          <a:prstGeom prst="roundRect">
            <a:avLst>
              <a:gd name="adj" fmla="val 4174"/>
            </a:avLst>
          </a:prstGeom>
          <a:solidFill>
            <a:srgbClr val="202527"/>
          </a:solidFill>
          <a:ln w="12700">
            <a:solidFill>
              <a:srgbClr val="7D87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77000" y="2037280"/>
            <a:ext cx="5029200" cy="3293853"/>
          </a:xfrm>
          <a:prstGeom prst="roundRect">
            <a:avLst>
              <a:gd name="adj" fmla="val 4174"/>
            </a:avLst>
          </a:prstGeom>
          <a:solidFill>
            <a:srgbClr val="202527"/>
          </a:solidFill>
          <a:ln w="12700">
            <a:solidFill>
              <a:srgbClr val="7D87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562100" y="2342080"/>
            <a:ext cx="327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Säugling / Kleinkind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33600" y="286024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Grundimmunisierung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95400" y="3300338"/>
            <a:ext cx="3810000" cy="853440"/>
          </a:xfrm>
          <a:prstGeom prst="roundRect">
            <a:avLst>
              <a:gd name="adj" fmla="val 15000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752600" y="3513698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PCV13 oder PCV15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905000" y="4329038"/>
            <a:ext cx="259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reifgeboren: 2+1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frühgeboren: 3+1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86600" y="234208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Risikokind ≥2–17 Jahre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01000" y="286024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Indikationsimpfung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86600" y="3294580"/>
            <a:ext cx="3810000" cy="853440"/>
          </a:xfrm>
          <a:prstGeom prst="roundRect">
            <a:avLst>
              <a:gd name="adj" fmla="val 15000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58200" y="3523180"/>
            <a:ext cx="106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PCV20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086600" y="439948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definierten Risikofaktoren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Vorimpfung &amp; Impfabstände beachten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5800" y="5518188"/>
            <a:ext cx="10820400" cy="426720"/>
          </a:xfrm>
          <a:prstGeom prst="roundRect">
            <a:avLst>
              <a:gd name="adj" fmla="val 30000"/>
            </a:avLst>
          </a:prstGeom>
          <a:solidFill>
            <a:srgbClr val="FFD500"/>
          </a:solidFill>
          <a:ln w="12700">
            <a:solidFill>
              <a:srgbClr val="2025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90600" y="5609628"/>
            <a:ext cx="1021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2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Merksatz: Alter + Risikoprofil + bisheriger Impfstatus bestimmen die Impfstrategie.</a:t>
            </a:r>
            <a:endParaRPr lang="en-US" sz="1650" dirty="0">
              <a:solidFill>
                <a:srgbClr val="202527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800" y="6202679"/>
            <a:ext cx="10896600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800" dirty="0" err="1">
                <a:solidFill>
                  <a:schemeClr val="bg1"/>
                </a:solidFill>
              </a:rPr>
              <a:t>Vereinfachte</a:t>
            </a:r>
            <a:r>
              <a:rPr sz="800" dirty="0">
                <a:solidFill>
                  <a:schemeClr val="bg1"/>
                </a:solidFill>
              </a:rPr>
              <a:t> </a:t>
            </a:r>
            <a:r>
              <a:rPr sz="800" dirty="0" err="1">
                <a:solidFill>
                  <a:schemeClr val="bg1"/>
                </a:solidFill>
              </a:rPr>
              <a:t>Darstellung</a:t>
            </a:r>
            <a:r>
              <a:rPr sz="800" dirty="0">
                <a:solidFill>
                  <a:schemeClr val="bg1"/>
                </a:solidFill>
              </a:rPr>
              <a:t>.</a:t>
            </a:r>
            <a:r>
              <a:rPr lang="de-DE" sz="800" dirty="0">
                <a:solidFill>
                  <a:schemeClr val="bg1"/>
                </a:solidFill>
              </a:rPr>
              <a:t> Quellen:</a:t>
            </a:r>
            <a:br>
              <a:rPr lang="de-DE" sz="800" dirty="0">
                <a:solidFill>
                  <a:schemeClr val="bg1"/>
                </a:solidFill>
              </a:rPr>
            </a:br>
            <a:r>
              <a:rPr lang="de-DE" sz="800" dirty="0">
                <a:solidFill>
                  <a:schemeClr val="bg1"/>
                </a:solidFill>
              </a:rPr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800" dirty="0">
                <a:solidFill>
                  <a:schemeClr val="bg1"/>
                </a:solidFill>
              </a:rPr>
              <a:t>2. Robert Koch-Institut: Empfehlungen der Ständigen Impfkommission (STIKO) beim Robert Koch-Institut 2026. Version 6, aktualisiert am 10.09.2026. Epidemiologisches Bulletin 4/2026.</a:t>
            </a:r>
          </a:p>
          <a:p>
            <a:r>
              <a:rPr lang="de-DE" sz="800" dirty="0">
                <a:solidFill>
                  <a:schemeClr val="bg1"/>
                </a:solidFill>
              </a:rPr>
              <a:t>5. Gemeinsamer Bundesausschuss: Schutzimpfungs-Richtlinie – Umsetzung der STIKO-Indikationsimpfempfehlung für Kinder und Jugendliche mit Risikofaktoren im Alter von ≥2 bis 17 Jahren gegen Pneumokokken-Erkrankungen. Beschluss vom 05.03.2026; Inkrafttreten 14.04.2026.</a:t>
            </a:r>
            <a:endParaRPr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1D758ABB-DA5B-03E7-90FC-A25465A4BA29}"/>
              </a:ext>
            </a:extLst>
          </p:cNvPr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C75D1152-F6A2-59C9-5693-ED9AE439029B}"/>
              </a:ext>
            </a:extLst>
          </p:cNvPr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PRAXIS-WORKFLOW</a:t>
            </a: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F6FBD6D0-354A-C977-D911-40E8FDB6B05A}"/>
              </a:ext>
            </a:extLst>
          </p:cNvPr>
          <p:cNvSpPr/>
          <p:nvPr/>
        </p:nvSpPr>
        <p:spPr>
          <a:xfrm>
            <a:off x="685800" y="960120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Risikokinder erkennen – Impfversorgung aktiv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steuern</a:t>
            </a:r>
            <a:endParaRPr lang="en-US" sz="3600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DAD3A178-12B7-A54F-BC8A-1F0D15592690}"/>
              </a:ext>
            </a:extLst>
          </p:cNvPr>
          <p:cNvSpPr/>
          <p:nvPr/>
        </p:nvSpPr>
        <p:spPr>
          <a:xfrm>
            <a:off x="6858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B4544600-07CE-6BB9-FA0F-632577E5DF2A}"/>
              </a:ext>
            </a:extLst>
          </p:cNvPr>
          <p:cNvSpPr/>
          <p:nvPr/>
        </p:nvSpPr>
        <p:spPr>
          <a:xfrm>
            <a:off x="8763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3990276E-EE22-C21D-6874-88780C6339CD}"/>
              </a:ext>
            </a:extLst>
          </p:cNvPr>
          <p:cNvSpPr/>
          <p:nvPr/>
        </p:nvSpPr>
        <p:spPr>
          <a:xfrm>
            <a:off x="10058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A0AF344B-1B18-EC21-850A-D7A7618D1AE0}"/>
              </a:ext>
            </a:extLst>
          </p:cNvPr>
          <p:cNvSpPr/>
          <p:nvPr/>
        </p:nvSpPr>
        <p:spPr>
          <a:xfrm>
            <a:off x="1485900" y="24993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Identifizieren</a:t>
            </a:r>
            <a:endParaRPr lang="en-US" sz="1500" dirty="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D1F882EB-E204-F308-8333-FC30E9590944}"/>
              </a:ext>
            </a:extLst>
          </p:cNvPr>
          <p:cNvSpPr/>
          <p:nvPr/>
        </p:nvSpPr>
        <p:spPr>
          <a:xfrm>
            <a:off x="8991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300" dirty="0"/>
              <a:t>STIKO-</a:t>
            </a:r>
            <a:r>
              <a:rPr sz="1300" dirty="0" err="1"/>
              <a:t>Risikofaktoren</a:t>
            </a:r>
            <a:endParaRPr sz="1300" dirty="0"/>
          </a:p>
          <a:p>
            <a:r>
              <a:rPr sz="1300" dirty="0" err="1"/>
              <a:t>prüfen</a:t>
            </a:r>
            <a:endParaRPr sz="1300" dirty="0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C82E75BE-1F8C-0F9E-6A6F-FB3C1AE207C6}"/>
              </a:ext>
            </a:extLst>
          </p:cNvPr>
          <p:cNvSpPr/>
          <p:nvPr/>
        </p:nvSpPr>
        <p:spPr>
          <a:xfrm>
            <a:off x="34671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1E00072A-4D07-A80E-6594-F591167E1CAA}"/>
              </a:ext>
            </a:extLst>
          </p:cNvPr>
          <p:cNvSpPr/>
          <p:nvPr/>
        </p:nvSpPr>
        <p:spPr>
          <a:xfrm>
            <a:off x="36576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E65E132E-95F9-8FF9-E32B-410771EA09C0}"/>
              </a:ext>
            </a:extLst>
          </p:cNvPr>
          <p:cNvSpPr/>
          <p:nvPr/>
        </p:nvSpPr>
        <p:spPr>
          <a:xfrm>
            <a:off x="37871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1294BDE5-7D1A-EEB2-DC42-AFE59A49E0AA}"/>
              </a:ext>
            </a:extLst>
          </p:cNvPr>
          <p:cNvSpPr/>
          <p:nvPr/>
        </p:nvSpPr>
        <p:spPr>
          <a:xfrm>
            <a:off x="4267200" y="24993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Impfstatus</a:t>
            </a:r>
            <a:endParaRPr lang="en-US" sz="15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1993B533-61CC-1552-85C2-A037ED933147}"/>
              </a:ext>
            </a:extLst>
          </p:cNvPr>
          <p:cNvSpPr/>
          <p:nvPr/>
        </p:nvSpPr>
        <p:spPr>
          <a:xfrm>
            <a:off x="36804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Standard- &amp;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Risiko-</a:t>
            </a:r>
            <a:r>
              <a:rPr lang="en-US" sz="1300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impfungen</a:t>
            </a: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prüfen</a:t>
            </a:r>
            <a:endParaRPr lang="en-US" sz="1300" dirty="0"/>
          </a:p>
        </p:txBody>
      </p:sp>
      <p:sp>
        <p:nvSpPr>
          <p:cNvPr id="69" name="Shape 13">
            <a:extLst>
              <a:ext uri="{FF2B5EF4-FFF2-40B4-BE49-F238E27FC236}">
                <a16:creationId xmlns:a16="http://schemas.microsoft.com/office/drawing/2014/main" id="{6E6CB3D8-5BFE-1267-6428-890AF22463B7}"/>
              </a:ext>
            </a:extLst>
          </p:cNvPr>
          <p:cNvSpPr/>
          <p:nvPr/>
        </p:nvSpPr>
        <p:spPr>
          <a:xfrm>
            <a:off x="62484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3679993B-FE21-EF6E-E4D7-0DCD181FEF4C}"/>
              </a:ext>
            </a:extLst>
          </p:cNvPr>
          <p:cNvSpPr/>
          <p:nvPr/>
        </p:nvSpPr>
        <p:spPr>
          <a:xfrm>
            <a:off x="64389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18BDB3B3-D894-3E20-0FB0-0F4BA75424DE}"/>
              </a:ext>
            </a:extLst>
          </p:cNvPr>
          <p:cNvSpPr/>
          <p:nvPr/>
        </p:nvSpPr>
        <p:spPr>
          <a:xfrm>
            <a:off x="65684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553C6E3A-FF4F-D3EC-2A87-DA3A79D163C5}"/>
              </a:ext>
            </a:extLst>
          </p:cNvPr>
          <p:cNvSpPr/>
          <p:nvPr/>
        </p:nvSpPr>
        <p:spPr>
          <a:xfrm>
            <a:off x="7048500" y="249936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Dokumentieren</a:t>
            </a:r>
            <a:endParaRPr lang="en-US" sz="1500" dirty="0"/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86C59984-B816-E85D-8CB4-87E3CCDD57F5}"/>
              </a:ext>
            </a:extLst>
          </p:cNvPr>
          <p:cNvSpPr/>
          <p:nvPr/>
        </p:nvSpPr>
        <p:spPr>
          <a:xfrm>
            <a:off x="64617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Praxisverwaltungs</a:t>
            </a: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system</a:t>
            </a:r>
            <a:endParaRPr lang="en-US" sz="1300" dirty="0"/>
          </a:p>
        </p:txBody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A9AE970F-408B-BA03-17D4-659E99B06312}"/>
              </a:ext>
            </a:extLst>
          </p:cNvPr>
          <p:cNvSpPr/>
          <p:nvPr/>
        </p:nvSpPr>
        <p:spPr>
          <a:xfrm>
            <a:off x="9029700" y="22860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19">
            <a:extLst>
              <a:ext uri="{FF2B5EF4-FFF2-40B4-BE49-F238E27FC236}">
                <a16:creationId xmlns:a16="http://schemas.microsoft.com/office/drawing/2014/main" id="{6FD4A342-0068-F75A-1F32-7930CAC928CC}"/>
              </a:ext>
            </a:extLst>
          </p:cNvPr>
          <p:cNvSpPr/>
          <p:nvPr/>
        </p:nvSpPr>
        <p:spPr>
          <a:xfrm>
            <a:off x="9220200" y="24765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584FE8C7-483A-7ADE-94A0-2D88CB75B5DF}"/>
              </a:ext>
            </a:extLst>
          </p:cNvPr>
          <p:cNvSpPr/>
          <p:nvPr/>
        </p:nvSpPr>
        <p:spPr>
          <a:xfrm>
            <a:off x="9349740" y="26060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7B91293C-7986-DB78-27B7-2E526619F6E2}"/>
              </a:ext>
            </a:extLst>
          </p:cNvPr>
          <p:cNvSpPr/>
          <p:nvPr/>
        </p:nvSpPr>
        <p:spPr>
          <a:xfrm>
            <a:off x="9829800" y="24993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</a:t>
            </a:r>
            <a:endParaRPr lang="en-US" sz="1500" dirty="0"/>
          </a:p>
        </p:txBody>
      </p:sp>
      <p:sp>
        <p:nvSpPr>
          <p:cNvPr id="87" name="Text 22">
            <a:extLst>
              <a:ext uri="{FF2B5EF4-FFF2-40B4-BE49-F238E27FC236}">
                <a16:creationId xmlns:a16="http://schemas.microsoft.com/office/drawing/2014/main" id="{860EB29A-9DC3-F460-77FF-D24D80051CE7}"/>
              </a:ext>
            </a:extLst>
          </p:cNvPr>
          <p:cNvSpPr/>
          <p:nvPr/>
        </p:nvSpPr>
        <p:spPr>
          <a:xfrm>
            <a:off x="9243060" y="30175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</a:t>
            </a:r>
            <a:r>
              <a:rPr lang="en-US" sz="1300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Impfungen</a:t>
            </a: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sichtbar</a:t>
            </a:r>
            <a:r>
              <a:rPr lang="en-US" sz="1300" dirty="0"/>
              <a:t> </a:t>
            </a:r>
            <a:r>
              <a:rPr lang="en-US" sz="1300" dirty="0" err="1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machen</a:t>
            </a:r>
            <a:endParaRPr lang="en-US" sz="1300" dirty="0"/>
          </a:p>
        </p:txBody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863E7E4C-A32F-BBE9-8F24-FA80EC17B749}"/>
              </a:ext>
            </a:extLst>
          </p:cNvPr>
          <p:cNvSpPr/>
          <p:nvPr/>
        </p:nvSpPr>
        <p:spPr>
          <a:xfrm>
            <a:off x="2095500" y="40005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24">
            <a:extLst>
              <a:ext uri="{FF2B5EF4-FFF2-40B4-BE49-F238E27FC236}">
                <a16:creationId xmlns:a16="http://schemas.microsoft.com/office/drawing/2014/main" id="{D5EE41D9-E994-7C06-ADD2-A2F1EFB43177}"/>
              </a:ext>
            </a:extLst>
          </p:cNvPr>
          <p:cNvSpPr/>
          <p:nvPr/>
        </p:nvSpPr>
        <p:spPr>
          <a:xfrm>
            <a:off x="2286000" y="41910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25">
            <a:extLst>
              <a:ext uri="{FF2B5EF4-FFF2-40B4-BE49-F238E27FC236}">
                <a16:creationId xmlns:a16="http://schemas.microsoft.com/office/drawing/2014/main" id="{41830D0C-F628-511A-3AE3-3EBA1D6F3E80}"/>
              </a:ext>
            </a:extLst>
          </p:cNvPr>
          <p:cNvSpPr/>
          <p:nvPr/>
        </p:nvSpPr>
        <p:spPr>
          <a:xfrm>
            <a:off x="2415540" y="43205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4A620C1D-AA84-9B07-D851-2AA80F678BE6}"/>
              </a:ext>
            </a:extLst>
          </p:cNvPr>
          <p:cNvSpPr/>
          <p:nvPr/>
        </p:nvSpPr>
        <p:spPr>
          <a:xfrm>
            <a:off x="2895600" y="42138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Einbestellen</a:t>
            </a:r>
            <a:endParaRPr lang="en-US" sz="1500" dirty="0"/>
          </a:p>
        </p:txBody>
      </p:sp>
      <p:sp>
        <p:nvSpPr>
          <p:cNvPr id="97" name="Text 27">
            <a:extLst>
              <a:ext uri="{FF2B5EF4-FFF2-40B4-BE49-F238E27FC236}">
                <a16:creationId xmlns:a16="http://schemas.microsoft.com/office/drawing/2014/main" id="{F982BC76-4D8A-0EAF-2FCE-8231BA678F9F}"/>
              </a:ext>
            </a:extLst>
          </p:cNvPr>
          <p:cNvSpPr/>
          <p:nvPr/>
        </p:nvSpPr>
        <p:spPr>
          <a:xfrm>
            <a:off x="2308860" y="47320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konkreten Impftermin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vereinbaren</a:t>
            </a:r>
            <a:endParaRPr lang="en-US" sz="1300" dirty="0"/>
          </a:p>
        </p:txBody>
      </p:sp>
      <p:sp>
        <p:nvSpPr>
          <p:cNvPr id="99" name="Shape 28">
            <a:extLst>
              <a:ext uri="{FF2B5EF4-FFF2-40B4-BE49-F238E27FC236}">
                <a16:creationId xmlns:a16="http://schemas.microsoft.com/office/drawing/2014/main" id="{263C9A74-8E11-CECE-F7A9-4FA8EFCE5C6C}"/>
              </a:ext>
            </a:extLst>
          </p:cNvPr>
          <p:cNvSpPr/>
          <p:nvPr/>
        </p:nvSpPr>
        <p:spPr>
          <a:xfrm>
            <a:off x="4876800" y="40005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29">
            <a:extLst>
              <a:ext uri="{FF2B5EF4-FFF2-40B4-BE49-F238E27FC236}">
                <a16:creationId xmlns:a16="http://schemas.microsoft.com/office/drawing/2014/main" id="{F0F65D15-2FC6-A407-69D4-974647E8B4A6}"/>
              </a:ext>
            </a:extLst>
          </p:cNvPr>
          <p:cNvSpPr/>
          <p:nvPr/>
        </p:nvSpPr>
        <p:spPr>
          <a:xfrm>
            <a:off x="5067300" y="41910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0">
            <a:extLst>
              <a:ext uri="{FF2B5EF4-FFF2-40B4-BE49-F238E27FC236}">
                <a16:creationId xmlns:a16="http://schemas.microsoft.com/office/drawing/2014/main" id="{2A330C04-D706-5812-D494-A61A76F417A3}"/>
              </a:ext>
            </a:extLst>
          </p:cNvPr>
          <p:cNvSpPr/>
          <p:nvPr/>
        </p:nvSpPr>
        <p:spPr>
          <a:xfrm>
            <a:off x="5196840" y="43205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105" name="Text 31">
            <a:extLst>
              <a:ext uri="{FF2B5EF4-FFF2-40B4-BE49-F238E27FC236}">
                <a16:creationId xmlns:a16="http://schemas.microsoft.com/office/drawing/2014/main" id="{A438628D-1618-7828-47E7-B8C30B45F7E6}"/>
              </a:ext>
            </a:extLst>
          </p:cNvPr>
          <p:cNvSpPr/>
          <p:nvPr/>
        </p:nvSpPr>
        <p:spPr>
          <a:xfrm>
            <a:off x="5676900" y="42138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Abstimmen</a:t>
            </a:r>
            <a:endParaRPr lang="en-US" sz="1500" dirty="0"/>
          </a:p>
        </p:txBody>
      </p:sp>
      <p:sp>
        <p:nvSpPr>
          <p:cNvPr id="107" name="Text 32">
            <a:extLst>
              <a:ext uri="{FF2B5EF4-FFF2-40B4-BE49-F238E27FC236}">
                <a16:creationId xmlns:a16="http://schemas.microsoft.com/office/drawing/2014/main" id="{DFC93AB4-7CFB-8F1B-EFD4-BFFDFA8326DB}"/>
              </a:ext>
            </a:extLst>
          </p:cNvPr>
          <p:cNvSpPr/>
          <p:nvPr/>
        </p:nvSpPr>
        <p:spPr>
          <a:xfrm>
            <a:off x="5090160" y="47320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Pädiatrie ↔ Facharzt</a:t>
            </a:r>
            <a:endParaRPr lang="en-US" sz="1300" dirty="0"/>
          </a:p>
        </p:txBody>
      </p:sp>
      <p:sp>
        <p:nvSpPr>
          <p:cNvPr id="109" name="Shape 33">
            <a:extLst>
              <a:ext uri="{FF2B5EF4-FFF2-40B4-BE49-F238E27FC236}">
                <a16:creationId xmlns:a16="http://schemas.microsoft.com/office/drawing/2014/main" id="{56705D71-F334-B46D-8124-1BF80451BFE6}"/>
              </a:ext>
            </a:extLst>
          </p:cNvPr>
          <p:cNvSpPr/>
          <p:nvPr/>
        </p:nvSpPr>
        <p:spPr>
          <a:xfrm>
            <a:off x="7658100" y="4000500"/>
            <a:ext cx="2362200" cy="125730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 w="12700">
            <a:solidFill>
              <a:srgbClr val="C9CE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ABCC834B-E45C-6803-C477-E86042A4914E}"/>
              </a:ext>
            </a:extLst>
          </p:cNvPr>
          <p:cNvSpPr/>
          <p:nvPr/>
        </p:nvSpPr>
        <p:spPr>
          <a:xfrm>
            <a:off x="7848600" y="4191000"/>
            <a:ext cx="472440" cy="472440"/>
          </a:xfrm>
          <a:prstGeom prst="ellipse">
            <a:avLst/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Text 35">
            <a:extLst>
              <a:ext uri="{FF2B5EF4-FFF2-40B4-BE49-F238E27FC236}">
                <a16:creationId xmlns:a16="http://schemas.microsoft.com/office/drawing/2014/main" id="{ABC82EBD-DD14-7427-BF27-75D3D2C00B79}"/>
              </a:ext>
            </a:extLst>
          </p:cNvPr>
          <p:cNvSpPr/>
          <p:nvPr/>
        </p:nvSpPr>
        <p:spPr>
          <a:xfrm>
            <a:off x="7978140" y="432054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115" name="Text 36">
            <a:extLst>
              <a:ext uri="{FF2B5EF4-FFF2-40B4-BE49-F238E27FC236}">
                <a16:creationId xmlns:a16="http://schemas.microsoft.com/office/drawing/2014/main" id="{3B1F628B-1B9D-A32A-290B-2B22CAF3C218}"/>
              </a:ext>
            </a:extLst>
          </p:cNvPr>
          <p:cNvSpPr/>
          <p:nvPr/>
        </p:nvSpPr>
        <p:spPr>
          <a:xfrm>
            <a:off x="8458200" y="421386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Impfen</a:t>
            </a:r>
            <a:endParaRPr lang="en-US" sz="1500" dirty="0"/>
          </a:p>
        </p:txBody>
      </p:sp>
      <p:sp>
        <p:nvSpPr>
          <p:cNvPr id="117" name="Text 37">
            <a:extLst>
              <a:ext uri="{FF2B5EF4-FFF2-40B4-BE49-F238E27FC236}">
                <a16:creationId xmlns:a16="http://schemas.microsoft.com/office/drawing/2014/main" id="{8DA44012-3352-9C83-F733-72A0FC555701}"/>
              </a:ext>
            </a:extLst>
          </p:cNvPr>
          <p:cNvSpPr/>
          <p:nvPr/>
        </p:nvSpPr>
        <p:spPr>
          <a:xfrm>
            <a:off x="7871460" y="4732020"/>
            <a:ext cx="190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Verantwortung aktiv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übernehmen</a:t>
            </a:r>
            <a:endParaRPr lang="en-US" sz="1300" dirty="0"/>
          </a:p>
        </p:txBody>
      </p:sp>
      <p:sp>
        <p:nvSpPr>
          <p:cNvPr id="119" name="Shape 38">
            <a:extLst>
              <a:ext uri="{FF2B5EF4-FFF2-40B4-BE49-F238E27FC236}">
                <a16:creationId xmlns:a16="http://schemas.microsoft.com/office/drawing/2014/main" id="{0434902D-B2E2-7B6A-61B8-750DE4FD0826}"/>
              </a:ext>
            </a:extLst>
          </p:cNvPr>
          <p:cNvSpPr/>
          <p:nvPr/>
        </p:nvSpPr>
        <p:spPr>
          <a:xfrm>
            <a:off x="685800" y="5554980"/>
            <a:ext cx="10820400" cy="533400"/>
          </a:xfrm>
          <a:prstGeom prst="roundRect">
            <a:avLst>
              <a:gd name="adj" fmla="val 24000"/>
            </a:avLst>
          </a:prstGeom>
          <a:solidFill>
            <a:srgbClr val="FFF0A1"/>
          </a:solidFill>
          <a:ln w="12700">
            <a:solidFill>
              <a:srgbClr val="FFF0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Text 39">
            <a:extLst>
              <a:ext uri="{FF2B5EF4-FFF2-40B4-BE49-F238E27FC236}">
                <a16:creationId xmlns:a16="http://schemas.microsoft.com/office/drawing/2014/main" id="{E1BBA09B-CD40-458E-EAD9-E9FE21F224B4}"/>
              </a:ext>
            </a:extLst>
          </p:cNvPr>
          <p:cNvSpPr/>
          <p:nvPr/>
        </p:nvSpPr>
        <p:spPr>
          <a:xfrm>
            <a:off x="990600" y="5669280"/>
            <a:ext cx="102108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 b="1" dirty="0"/>
              <a:t>Praxis-Workflow – </a:t>
            </a:r>
            <a:r>
              <a:rPr sz="1400" b="1" dirty="0" err="1"/>
              <a:t>kein</a:t>
            </a:r>
            <a:r>
              <a:rPr sz="1400" b="1" dirty="0"/>
              <a:t> </a:t>
            </a:r>
            <a:r>
              <a:rPr sz="1400" b="1" dirty="0" err="1"/>
              <a:t>individualisierter</a:t>
            </a:r>
            <a:r>
              <a:rPr sz="1400" b="1" dirty="0"/>
              <a:t> </a:t>
            </a:r>
            <a:r>
              <a:rPr sz="1400" b="1" dirty="0" err="1"/>
              <a:t>Impfalgorithmus</a:t>
            </a:r>
            <a:r>
              <a:rPr sz="1400" b="1" dirty="0"/>
              <a:t>. </a:t>
            </a:r>
            <a:r>
              <a:rPr sz="1400" b="1" dirty="0" err="1"/>
              <a:t>Medizinische</a:t>
            </a:r>
            <a:r>
              <a:rPr sz="1400" b="1" dirty="0"/>
              <a:t> </a:t>
            </a:r>
            <a:r>
              <a:rPr sz="1400" b="1" dirty="0" err="1"/>
              <a:t>Grundlage</a:t>
            </a:r>
            <a:r>
              <a:rPr sz="1400" b="1" dirty="0"/>
              <a:t>: </a:t>
            </a:r>
            <a:r>
              <a:rPr sz="1400" b="1" dirty="0" err="1"/>
              <a:t>aktuelle</a:t>
            </a:r>
            <a:r>
              <a:rPr sz="1400" b="1" dirty="0"/>
              <a:t> STIKO-</a:t>
            </a:r>
            <a:r>
              <a:rPr sz="1400" b="1" dirty="0" err="1"/>
              <a:t>Empfehlungen</a:t>
            </a:r>
            <a:r>
              <a:rPr sz="1400" b="1" dirty="0"/>
              <a:t> [1,2].</a:t>
            </a:r>
          </a:p>
        </p:txBody>
      </p:sp>
      <p:sp>
        <p:nvSpPr>
          <p:cNvPr id="123" name="Text 31">
            <a:extLst>
              <a:ext uri="{FF2B5EF4-FFF2-40B4-BE49-F238E27FC236}">
                <a16:creationId xmlns:a16="http://schemas.microsoft.com/office/drawing/2014/main" id="{470039AD-402E-8567-68AE-E9B01005CD00}"/>
              </a:ext>
            </a:extLst>
          </p:cNvPr>
          <p:cNvSpPr/>
          <p:nvPr/>
        </p:nvSpPr>
        <p:spPr>
          <a:xfrm>
            <a:off x="822960" y="6101201"/>
            <a:ext cx="10584180" cy="73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de-DE" sz="900" dirty="0"/>
              <a:t>Quellen:</a:t>
            </a:r>
            <a:br>
              <a:rPr lang="de-DE" sz="900" dirty="0"/>
            </a:br>
            <a:r>
              <a:rPr lang="de-DE" sz="900" dirty="0"/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900" dirty="0"/>
              <a:t>2. Robert Koch-Institut: Empfehlungen der Ständigen Impfkommission (STIKO) beim Robert Koch-Institut 2026. Version 6, aktualisiert am 10.09.2026. Epidemiologisches Bulletin 4/2026.</a:t>
            </a:r>
            <a:endParaRPr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dirty="0">
                <a:solidFill>
                  <a:srgbClr val="FFD500"/>
                </a:solidFill>
              </a:rPr>
              <a:t>PRAXIS-FÄLLE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59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Situationen, die die Empfehlung greifbar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2160934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2374294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82040" y="2526694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38300" y="2343814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Verspätete / unvollständige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Grundimmunisierung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2500" y="3060094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de-DE" sz="1500" b="1" dirty="0">
                <a:solidFill>
                  <a:srgbClr val="FFE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Dosis fehlt – wie wird nachgeholt?</a:t>
            </a:r>
          </a:p>
          <a:p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77000" y="2160934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705600" y="2374294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73240" y="2526694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29500" y="2343814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900" b="1" dirty="0">
                <a:solidFill>
                  <a:schemeClr val="bg1"/>
                </a:solidFill>
              </a:rPr>
              <a:t>Kind ≥2 Jahre </a:t>
            </a:r>
            <a:r>
              <a:rPr sz="1900" b="1" dirty="0" err="1">
                <a:solidFill>
                  <a:schemeClr val="bg1"/>
                </a:solidFill>
              </a:rPr>
              <a:t>mit</a:t>
            </a:r>
            <a:endParaRPr sz="1900" b="1" dirty="0">
              <a:solidFill>
                <a:schemeClr val="bg1"/>
              </a:solidFill>
            </a:endParaRPr>
          </a:p>
          <a:p>
            <a:r>
              <a:rPr sz="1900" b="1" dirty="0">
                <a:solidFill>
                  <a:schemeClr val="bg1"/>
                </a:solidFill>
              </a:rPr>
              <a:t>Asthma </a:t>
            </a:r>
            <a:r>
              <a:rPr sz="1900" b="1" dirty="0" err="1">
                <a:solidFill>
                  <a:schemeClr val="bg1"/>
                </a:solidFill>
              </a:rPr>
              <a:t>bronchiale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43700" y="3060094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de-DE" sz="1500" b="1">
                <a:solidFill>
                  <a:srgbClr val="FFE46A"/>
                </a:solidFill>
              </a:rPr>
              <a:t>Welche Impfung ist nach STIKO indiziert?</a:t>
            </a:r>
          </a:p>
          <a:p>
            <a:endParaRPr sz="1500" b="1" dirty="0">
              <a:solidFill>
                <a:srgbClr val="FFE46A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4138962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4400" y="4352322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82040" y="4504722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38300" y="4321842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900" b="1" dirty="0">
                <a:solidFill>
                  <a:schemeClr val="bg1"/>
                </a:solidFill>
              </a:rPr>
              <a:t>Psoriasis ≥2 Jahre </a:t>
            </a:r>
            <a:r>
              <a:rPr sz="1900" b="1" dirty="0" err="1">
                <a:solidFill>
                  <a:schemeClr val="bg1"/>
                </a:solidFill>
              </a:rPr>
              <a:t>unter</a:t>
            </a:r>
            <a:endParaRPr sz="1900" b="1" dirty="0">
              <a:solidFill>
                <a:schemeClr val="bg1"/>
              </a:solidFill>
            </a:endParaRPr>
          </a:p>
          <a:p>
            <a:r>
              <a:rPr sz="1900" b="1" dirty="0" err="1">
                <a:solidFill>
                  <a:schemeClr val="bg1"/>
                </a:solidFill>
              </a:rPr>
              <a:t>immunsuppressiver</a:t>
            </a:r>
            <a:r>
              <a:rPr sz="1900" b="1" dirty="0">
                <a:solidFill>
                  <a:schemeClr val="bg1"/>
                </a:solidFill>
              </a:rPr>
              <a:t> </a:t>
            </a:r>
            <a:r>
              <a:rPr sz="1900" b="1" dirty="0" err="1">
                <a:solidFill>
                  <a:schemeClr val="bg1"/>
                </a:solidFill>
              </a:rPr>
              <a:t>Therapie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2500" y="5038122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de-DE" sz="1500" b="1" dirty="0">
                <a:solidFill>
                  <a:srgbClr val="FFE46A"/>
                </a:solidFill>
              </a:rPr>
              <a:t>Wie beeinflusst die Immunsuppression die Impfplanung?</a:t>
            </a:r>
            <a:endParaRPr sz="1500" b="1" dirty="0">
              <a:solidFill>
                <a:srgbClr val="FFE46A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77000" y="4138962"/>
            <a:ext cx="5029200" cy="1447800"/>
          </a:xfrm>
          <a:prstGeom prst="roundRect">
            <a:avLst>
              <a:gd name="adj" fmla="val 10105"/>
            </a:avLst>
          </a:prstGeom>
          <a:solidFill>
            <a:srgbClr val="1F5960"/>
          </a:solidFill>
          <a:ln w="12700">
            <a:solidFill>
              <a:srgbClr val="9AB9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05600" y="4352322"/>
            <a:ext cx="502920" cy="502920"/>
          </a:xfrm>
          <a:prstGeom prst="ellipse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73240" y="4504722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29500" y="4321842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900" b="1" dirty="0">
                <a:solidFill>
                  <a:schemeClr val="bg1"/>
                </a:solidFill>
              </a:rPr>
              <a:t>Kind ≥2 Jahre </a:t>
            </a:r>
            <a:r>
              <a:rPr sz="1900" b="1" dirty="0" err="1">
                <a:solidFill>
                  <a:schemeClr val="bg1"/>
                </a:solidFill>
              </a:rPr>
              <a:t>mit</a:t>
            </a:r>
            <a:endParaRPr sz="1900" b="1" dirty="0">
              <a:solidFill>
                <a:schemeClr val="bg1"/>
              </a:solidFill>
            </a:endParaRPr>
          </a:p>
          <a:p>
            <a:r>
              <a:rPr sz="1900" b="1" dirty="0">
                <a:solidFill>
                  <a:schemeClr val="bg1"/>
                </a:solidFill>
              </a:rPr>
              <a:t>Cochlea-</a:t>
            </a:r>
            <a:r>
              <a:rPr sz="1900" b="1" dirty="0" err="1">
                <a:solidFill>
                  <a:schemeClr val="bg1"/>
                </a:solidFill>
              </a:rPr>
              <a:t>Implantat</a:t>
            </a:r>
            <a:endParaRPr sz="1900" b="1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43700" y="5038122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de-DE" sz="1500" b="1" dirty="0">
                <a:solidFill>
                  <a:srgbClr val="FFE46A"/>
                </a:solidFill>
              </a:rPr>
              <a:t>Was ist bei Cochlea-Implantation zu beachten?</a:t>
            </a:r>
          </a:p>
          <a:p>
            <a:endParaRPr sz="1500" b="1" dirty="0">
              <a:solidFill>
                <a:srgbClr val="FFE46A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" y="6116991"/>
            <a:ext cx="1036320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900" dirty="0" err="1">
                <a:solidFill>
                  <a:schemeClr val="bg1"/>
                </a:solidFill>
              </a:rPr>
              <a:t>Fallvignetten</a:t>
            </a:r>
            <a:r>
              <a:rPr sz="900" dirty="0">
                <a:solidFill>
                  <a:schemeClr val="bg1"/>
                </a:solidFill>
              </a:rPr>
              <a:t>: </a:t>
            </a:r>
            <a:r>
              <a:rPr sz="900" dirty="0" err="1">
                <a:solidFill>
                  <a:schemeClr val="bg1"/>
                </a:solidFill>
              </a:rPr>
              <a:t>Ausgangssituation</a:t>
            </a:r>
            <a:r>
              <a:rPr sz="900" dirty="0">
                <a:solidFill>
                  <a:schemeClr val="bg1"/>
                </a:solidFill>
              </a:rPr>
              <a:t> → </a:t>
            </a:r>
            <a:r>
              <a:rPr sz="900" dirty="0" err="1">
                <a:solidFill>
                  <a:schemeClr val="bg1"/>
                </a:solidFill>
              </a:rPr>
              <a:t>konkrete</a:t>
            </a:r>
            <a:r>
              <a:rPr sz="900" dirty="0">
                <a:solidFill>
                  <a:schemeClr val="bg1"/>
                </a:solidFill>
              </a:rPr>
              <a:t> Frage → </a:t>
            </a:r>
            <a:r>
              <a:rPr sz="900" dirty="0" err="1">
                <a:solidFill>
                  <a:schemeClr val="bg1"/>
                </a:solidFill>
              </a:rPr>
              <a:t>nächster</a:t>
            </a:r>
            <a:r>
              <a:rPr sz="900" dirty="0">
                <a:solidFill>
                  <a:schemeClr val="bg1"/>
                </a:solidFill>
              </a:rPr>
              <a:t> Schritt. </a:t>
            </a:r>
            <a:r>
              <a:rPr sz="900" dirty="0" err="1">
                <a:solidFill>
                  <a:schemeClr val="bg1"/>
                </a:solidFill>
              </a:rPr>
              <a:t>Medizinische</a:t>
            </a:r>
            <a:r>
              <a:rPr sz="900" dirty="0">
                <a:solidFill>
                  <a:schemeClr val="bg1"/>
                </a:solidFill>
              </a:rPr>
              <a:t> </a:t>
            </a:r>
            <a:r>
              <a:rPr sz="900" dirty="0" err="1">
                <a:solidFill>
                  <a:schemeClr val="bg1"/>
                </a:solidFill>
              </a:rPr>
              <a:t>Einordnung</a:t>
            </a:r>
            <a:r>
              <a:rPr lang="de-DE" sz="900" dirty="0">
                <a:solidFill>
                  <a:schemeClr val="bg1"/>
                </a:solidFill>
              </a:rPr>
              <a:t> &amp; Quellen</a:t>
            </a:r>
            <a:r>
              <a:rPr sz="900" dirty="0">
                <a:solidFill>
                  <a:schemeClr val="bg1"/>
                </a:solidFill>
              </a:rPr>
              <a:t>:</a:t>
            </a:r>
            <a:br>
              <a:rPr lang="de-DE" sz="900" dirty="0">
                <a:solidFill>
                  <a:schemeClr val="bg1"/>
                </a:solidFill>
              </a:rPr>
            </a:br>
            <a:r>
              <a:rPr lang="de-DE" sz="900" dirty="0">
                <a:solidFill>
                  <a:schemeClr val="bg1"/>
                </a:solidFill>
              </a:rPr>
              <a:t>1. STIKO / Robert Koch-Institut: Beschluss und Wissenschaftliche Begründung zur Aktualisierung der Indikationsimpfung für Kinder und Jugendliche mit Risikofaktoren im Alter von ≥2 bis 17 Jahren gegen Pneumokokken-Erkrankungen. Epidemiologisches Bulletin 2/2026.</a:t>
            </a:r>
          </a:p>
          <a:p>
            <a:r>
              <a:rPr lang="de-DE" sz="900" dirty="0">
                <a:solidFill>
                  <a:schemeClr val="bg1"/>
                </a:solidFill>
              </a:rPr>
              <a:t>2. Robert Koch-Institut: Empfehlungen der Ständigen Impfkommission (STIKO) beim Robert Koch-Institut 2026. Version 6, aktualisiert am 10.09.2026. Epidemiologisches Bulletin 4/2026.</a:t>
            </a:r>
            <a:endParaRPr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4191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90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419100"/>
            <a:ext cx="5257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 VERTIEFEN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439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Überblick in die zertifizierte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Fortbildung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38200" y="2110740"/>
            <a:ext cx="10515600" cy="37338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5240">
            <a:solidFill>
              <a:srgbClr val="D8B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57300" y="2552700"/>
            <a:ext cx="5791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2500" b="1" dirty="0" err="1"/>
              <a:t>Pneumokokken-Impfung</a:t>
            </a:r>
            <a:r>
              <a:rPr sz="2500" b="1" dirty="0"/>
              <a:t> </a:t>
            </a:r>
            <a:endParaRPr lang="de-DE" sz="2500" b="1" dirty="0"/>
          </a:p>
          <a:p>
            <a:r>
              <a:rPr lang="de-DE" sz="2500" b="1" dirty="0"/>
              <a:t>b</a:t>
            </a:r>
            <a:r>
              <a:rPr sz="2500" b="1" dirty="0" err="1"/>
              <a:t>ei</a:t>
            </a:r>
            <a:r>
              <a:rPr lang="de-DE" sz="2500" b="1" dirty="0"/>
              <a:t> </a:t>
            </a:r>
            <a:r>
              <a:rPr sz="2500" b="1" dirty="0" err="1"/>
              <a:t>Kindern</a:t>
            </a:r>
            <a:endParaRPr sz="2500" b="1" dirty="0"/>
          </a:p>
        </p:txBody>
      </p:sp>
      <p:sp>
        <p:nvSpPr>
          <p:cNvPr id="7" name="Text 5"/>
          <p:cNvSpPr/>
          <p:nvPr/>
        </p:nvSpPr>
        <p:spPr>
          <a:xfrm>
            <a:off x="1257300" y="3505200"/>
            <a:ext cx="5791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Vertiefen Sie die Evidenz, diskutieren Sie typische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Versorgungssituationen und überprüfen Sie Ihr Wissen im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CME-Modul.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848600" y="2628900"/>
            <a:ext cx="3048000" cy="12192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305800" y="2933700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ZUM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CME-MODUL 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57300" y="4572000"/>
            <a:ext cx="3467100" cy="624840"/>
          </a:xfrm>
          <a:prstGeom prst="roundRect">
            <a:avLst>
              <a:gd name="adj" fmla="val 20488"/>
            </a:avLst>
          </a:prstGeom>
          <a:solidFill>
            <a:srgbClr val="E9003D"/>
          </a:solidFill>
          <a:ln w="12700">
            <a:solidFill>
              <a:srgbClr val="E9003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562100" y="4739640"/>
            <a:ext cx="2857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Geplant: 2–3 CME-Punkte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4572000"/>
            <a:ext cx="2819400" cy="624840"/>
          </a:xfrm>
          <a:prstGeom prst="roundRect">
            <a:avLst>
              <a:gd name="adj" fmla="val 20488"/>
            </a:avLst>
          </a:prstGeom>
          <a:solidFill>
            <a:srgbClr val="0C7577"/>
          </a:solidFill>
          <a:ln w="12700">
            <a:solidFill>
              <a:srgbClr val="0C757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34000" y="4739640"/>
            <a:ext cx="220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Expertenvorträge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53400" y="4572000"/>
            <a:ext cx="2743200" cy="624840"/>
          </a:xfrm>
          <a:prstGeom prst="roundRect">
            <a:avLst>
              <a:gd name="adj" fmla="val 20488"/>
            </a:avLst>
          </a:prstGeom>
          <a:solidFill>
            <a:srgbClr val="303234"/>
          </a:solidFill>
          <a:ln w="12700">
            <a:solidFill>
              <a:srgbClr val="30323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382000" y="4739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Lernerfolgskontrolle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57300" y="6416040"/>
            <a:ext cx="963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D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CTA-Mockup. CME-Punkte vorbehaltlich finalem Umfang und Zertifizierung durch die </a:t>
            </a:r>
            <a:r>
              <a:rPr lang="en-US" sz="1020" dirty="0" err="1">
                <a:solidFill>
                  <a:srgbClr val="4D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zuständige</a:t>
            </a:r>
            <a:r>
              <a:rPr lang="en-US" sz="1020" dirty="0">
                <a:solidFill>
                  <a:srgbClr val="4D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20" dirty="0" err="1">
                <a:solidFill>
                  <a:srgbClr val="4D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Landesärztekammer</a:t>
            </a:r>
            <a:r>
              <a:rPr lang="en-US" sz="1020" dirty="0">
                <a:solidFill>
                  <a:srgbClr val="4D5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</Words>
  <Application>Microsoft Office PowerPoint</Application>
  <PresentationFormat>Breitbild</PresentationFormat>
  <Paragraphs>250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Vidal MMI Germany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Pneumokokken-Impfung bei Kindern – bearbeitbare Grafiken</dc:title>
  <dc:subject>Bearbeitbare Grafiken – Pneumokokken-Impfung bei Kindern</dc:subject>
  <dc:creator>Guido Strehlau</dc:creator>
  <cp:lastModifiedBy>Guido Strehlau</cp:lastModifiedBy>
  <cp:revision>3</cp:revision>
  <dcterms:created xsi:type="dcterms:W3CDTF">2026-09-14T16:00:50Z</dcterms:created>
  <dcterms:modified xsi:type="dcterms:W3CDTF">2026-09-16T13:58:47Z</dcterms:modified>
</cp:coreProperties>
</file>